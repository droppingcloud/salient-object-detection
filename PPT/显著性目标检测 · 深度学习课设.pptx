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9" r:id="rId4"/>
    <p:sldId id="260" r:id="rId5"/>
    <p:sldId id="261" r:id="rId6"/>
    <p:sldId id="262" r:id="rId7"/>
    <p:sldId id="270" r:id="rId8"/>
    <p:sldId id="263" r:id="rId9"/>
    <p:sldId id="264" r:id="rId10"/>
    <p:sldId id="265" r:id="rId11"/>
    <p:sldId id="266" r:id="rId12"/>
    <p:sldId id="267" r:id="rId13"/>
    <p:sldId id="268" r:id="rId14"/>
    <p:sldId id="269"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76" y="1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D684EB-5787-42BD-A535-8B4EB05D012A}" type="datetimeFigureOut">
              <a:rPr lang="zh-CN" altLang="en-US" smtClean="0"/>
              <a:t>2026/6/14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3F684A-0FC9-4792-B381-77A509A72B34}" type="slidenum">
              <a:rPr lang="zh-CN" altLang="en-US" smtClean="0"/>
              <a:t>‹#›</a:t>
            </a:fld>
            <a:endParaRPr lang="zh-CN" altLang="en-US"/>
          </a:p>
        </p:txBody>
      </p:sp>
    </p:spTree>
    <p:extLst>
      <p:ext uri="{BB962C8B-B14F-4D97-AF65-F5344CB8AC3E}">
        <p14:creationId xmlns:p14="http://schemas.microsoft.com/office/powerpoint/2010/main" val="3782976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73F684A-0FC9-4792-B381-77A509A72B34}" type="slidenum">
              <a:rPr lang="zh-CN" altLang="en-US" smtClean="0"/>
              <a:t>2</a:t>
            </a:fld>
            <a:endParaRPr lang="zh-CN" altLang="en-US"/>
          </a:p>
        </p:txBody>
      </p:sp>
    </p:spTree>
    <p:extLst>
      <p:ext uri="{BB962C8B-B14F-4D97-AF65-F5344CB8AC3E}">
        <p14:creationId xmlns:p14="http://schemas.microsoft.com/office/powerpoint/2010/main" val="2917195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73F684A-0FC9-4792-B381-77A509A72B34}" type="slidenum">
              <a:rPr lang="zh-CN" altLang="en-US" smtClean="0"/>
              <a:t>10</a:t>
            </a:fld>
            <a:endParaRPr lang="zh-CN" altLang="en-US"/>
          </a:p>
        </p:txBody>
      </p:sp>
    </p:spTree>
    <p:extLst>
      <p:ext uri="{BB962C8B-B14F-4D97-AF65-F5344CB8AC3E}">
        <p14:creationId xmlns:p14="http://schemas.microsoft.com/office/powerpoint/2010/main" val="2908894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73F684A-0FC9-4792-B381-77A509A72B34}" type="slidenum">
              <a:rPr lang="zh-CN" altLang="en-US" smtClean="0"/>
              <a:t>11</a:t>
            </a:fld>
            <a:endParaRPr lang="zh-CN" altLang="en-US"/>
          </a:p>
        </p:txBody>
      </p:sp>
    </p:spTree>
    <p:extLst>
      <p:ext uri="{BB962C8B-B14F-4D97-AF65-F5344CB8AC3E}">
        <p14:creationId xmlns:p14="http://schemas.microsoft.com/office/powerpoint/2010/main" val="32602035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09C49C-8308-6E35-027B-1825A42EE1E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EBE6AE2-300A-8D19-66D3-A9BA9B0E44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1F2FE4F-9879-DA86-3BF7-884CF652E44A}"/>
              </a:ext>
            </a:extLst>
          </p:cNvPr>
          <p:cNvSpPr>
            <a:spLocks noGrp="1"/>
          </p:cNvSpPr>
          <p:nvPr>
            <p:ph type="dt" sz="half" idx="10"/>
          </p:nvPr>
        </p:nvSpPr>
        <p:spPr/>
        <p:txBody>
          <a:bodyPr/>
          <a:lstStyle/>
          <a:p>
            <a:fld id="{9353F0D5-4488-47F7-BD66-38F9D1065222}" type="datetimeFigureOut">
              <a:rPr lang="zh-CN" altLang="en-US" smtClean="0"/>
              <a:t>2026/6/14</a:t>
            </a:fld>
            <a:endParaRPr lang="zh-CN" altLang="en-US"/>
          </a:p>
        </p:txBody>
      </p:sp>
      <p:sp>
        <p:nvSpPr>
          <p:cNvPr id="5" name="页脚占位符 4">
            <a:extLst>
              <a:ext uri="{FF2B5EF4-FFF2-40B4-BE49-F238E27FC236}">
                <a16:creationId xmlns:a16="http://schemas.microsoft.com/office/drawing/2014/main" id="{AD68DDA7-553F-7A67-10D3-CEB6AC42B3A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BFF7D71-5227-AFCA-DFFD-1815736EE1E0}"/>
              </a:ext>
            </a:extLst>
          </p:cNvPr>
          <p:cNvSpPr>
            <a:spLocks noGrp="1"/>
          </p:cNvSpPr>
          <p:nvPr>
            <p:ph type="sldNum" sz="quarter" idx="12"/>
          </p:nvPr>
        </p:nvSpPr>
        <p:spPr/>
        <p:txBody>
          <a:bodyPr/>
          <a:lstStyle/>
          <a:p>
            <a:fld id="{3EACAA9F-E62B-4818-B0D0-58D9426EA490}" type="slidenum">
              <a:rPr lang="zh-CN" altLang="en-US" smtClean="0"/>
              <a:t>‹#›</a:t>
            </a:fld>
            <a:endParaRPr lang="zh-CN" altLang="en-US"/>
          </a:p>
        </p:txBody>
      </p:sp>
    </p:spTree>
    <p:extLst>
      <p:ext uri="{BB962C8B-B14F-4D97-AF65-F5344CB8AC3E}">
        <p14:creationId xmlns:p14="http://schemas.microsoft.com/office/powerpoint/2010/main" val="1326669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AB058C-7EA4-F7A7-35EE-1B25855BEA6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C063F09-C900-B90B-6D26-49570998A72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72B1C0E-B433-0916-A204-CE2C3B903EDE}"/>
              </a:ext>
            </a:extLst>
          </p:cNvPr>
          <p:cNvSpPr>
            <a:spLocks noGrp="1"/>
          </p:cNvSpPr>
          <p:nvPr>
            <p:ph type="dt" sz="half" idx="10"/>
          </p:nvPr>
        </p:nvSpPr>
        <p:spPr/>
        <p:txBody>
          <a:bodyPr/>
          <a:lstStyle/>
          <a:p>
            <a:fld id="{9353F0D5-4488-47F7-BD66-38F9D1065222}" type="datetimeFigureOut">
              <a:rPr lang="zh-CN" altLang="en-US" smtClean="0"/>
              <a:t>2026/6/14</a:t>
            </a:fld>
            <a:endParaRPr lang="zh-CN" altLang="en-US"/>
          </a:p>
        </p:txBody>
      </p:sp>
      <p:sp>
        <p:nvSpPr>
          <p:cNvPr id="5" name="页脚占位符 4">
            <a:extLst>
              <a:ext uri="{FF2B5EF4-FFF2-40B4-BE49-F238E27FC236}">
                <a16:creationId xmlns:a16="http://schemas.microsoft.com/office/drawing/2014/main" id="{227B2FEA-CB9E-5842-7831-2899AD4340E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7880DE3-7034-8ABE-E9F7-DB10FC43141D}"/>
              </a:ext>
            </a:extLst>
          </p:cNvPr>
          <p:cNvSpPr>
            <a:spLocks noGrp="1"/>
          </p:cNvSpPr>
          <p:nvPr>
            <p:ph type="sldNum" sz="quarter" idx="12"/>
          </p:nvPr>
        </p:nvSpPr>
        <p:spPr/>
        <p:txBody>
          <a:bodyPr/>
          <a:lstStyle/>
          <a:p>
            <a:fld id="{3EACAA9F-E62B-4818-B0D0-58D9426EA490}" type="slidenum">
              <a:rPr lang="zh-CN" altLang="en-US" smtClean="0"/>
              <a:t>‹#›</a:t>
            </a:fld>
            <a:endParaRPr lang="zh-CN" altLang="en-US"/>
          </a:p>
        </p:txBody>
      </p:sp>
    </p:spTree>
    <p:extLst>
      <p:ext uri="{BB962C8B-B14F-4D97-AF65-F5344CB8AC3E}">
        <p14:creationId xmlns:p14="http://schemas.microsoft.com/office/powerpoint/2010/main" val="3523942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8D88C9-FB8A-5CE0-F897-5F91C079A79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89775D4-1C0F-36CA-7B52-0B2D5B6EEB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D465E19-E950-8F13-AD59-585BB992E78D}"/>
              </a:ext>
            </a:extLst>
          </p:cNvPr>
          <p:cNvSpPr>
            <a:spLocks noGrp="1"/>
          </p:cNvSpPr>
          <p:nvPr>
            <p:ph type="dt" sz="half" idx="10"/>
          </p:nvPr>
        </p:nvSpPr>
        <p:spPr/>
        <p:txBody>
          <a:bodyPr/>
          <a:lstStyle/>
          <a:p>
            <a:fld id="{9353F0D5-4488-47F7-BD66-38F9D1065222}" type="datetimeFigureOut">
              <a:rPr lang="zh-CN" altLang="en-US" smtClean="0"/>
              <a:t>2026/6/14</a:t>
            </a:fld>
            <a:endParaRPr lang="zh-CN" altLang="en-US"/>
          </a:p>
        </p:txBody>
      </p:sp>
      <p:sp>
        <p:nvSpPr>
          <p:cNvPr id="5" name="页脚占位符 4">
            <a:extLst>
              <a:ext uri="{FF2B5EF4-FFF2-40B4-BE49-F238E27FC236}">
                <a16:creationId xmlns:a16="http://schemas.microsoft.com/office/drawing/2014/main" id="{D6C0E393-E71C-3ED5-5086-1BF45160CF3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9B34F53-BCA5-7BFD-316F-B3B5B31A82BD}"/>
              </a:ext>
            </a:extLst>
          </p:cNvPr>
          <p:cNvSpPr>
            <a:spLocks noGrp="1"/>
          </p:cNvSpPr>
          <p:nvPr>
            <p:ph type="sldNum" sz="quarter" idx="12"/>
          </p:nvPr>
        </p:nvSpPr>
        <p:spPr/>
        <p:txBody>
          <a:bodyPr/>
          <a:lstStyle/>
          <a:p>
            <a:fld id="{3EACAA9F-E62B-4818-B0D0-58D9426EA490}" type="slidenum">
              <a:rPr lang="zh-CN" altLang="en-US" smtClean="0"/>
              <a:t>‹#›</a:t>
            </a:fld>
            <a:endParaRPr lang="zh-CN" altLang="en-US"/>
          </a:p>
        </p:txBody>
      </p:sp>
    </p:spTree>
    <p:extLst>
      <p:ext uri="{BB962C8B-B14F-4D97-AF65-F5344CB8AC3E}">
        <p14:creationId xmlns:p14="http://schemas.microsoft.com/office/powerpoint/2010/main" val="2642126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03757B-F038-C96F-40D2-D9A08F72380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A1B8852-0EB5-51B9-7670-D91AF0569AC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379853E-84FF-7884-3E01-D5B41BDB208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866C5DE-5BB0-9D67-CBFB-DB5A416A813B}"/>
              </a:ext>
            </a:extLst>
          </p:cNvPr>
          <p:cNvSpPr>
            <a:spLocks noGrp="1"/>
          </p:cNvSpPr>
          <p:nvPr>
            <p:ph type="dt" sz="half" idx="10"/>
          </p:nvPr>
        </p:nvSpPr>
        <p:spPr/>
        <p:txBody>
          <a:bodyPr/>
          <a:lstStyle/>
          <a:p>
            <a:fld id="{9353F0D5-4488-47F7-BD66-38F9D1065222}" type="datetimeFigureOut">
              <a:rPr lang="zh-CN" altLang="en-US" smtClean="0"/>
              <a:t>2026/6/14</a:t>
            </a:fld>
            <a:endParaRPr lang="zh-CN" altLang="en-US"/>
          </a:p>
        </p:txBody>
      </p:sp>
      <p:sp>
        <p:nvSpPr>
          <p:cNvPr id="6" name="页脚占位符 5">
            <a:extLst>
              <a:ext uri="{FF2B5EF4-FFF2-40B4-BE49-F238E27FC236}">
                <a16:creationId xmlns:a16="http://schemas.microsoft.com/office/drawing/2014/main" id="{3F15F4DB-4CE3-E188-E453-530FE7A4453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6B28B44-9CB6-00F5-6164-3B76EB3F3334}"/>
              </a:ext>
            </a:extLst>
          </p:cNvPr>
          <p:cNvSpPr>
            <a:spLocks noGrp="1"/>
          </p:cNvSpPr>
          <p:nvPr>
            <p:ph type="sldNum" sz="quarter" idx="12"/>
          </p:nvPr>
        </p:nvSpPr>
        <p:spPr/>
        <p:txBody>
          <a:bodyPr/>
          <a:lstStyle/>
          <a:p>
            <a:fld id="{3EACAA9F-E62B-4818-B0D0-58D9426EA490}" type="slidenum">
              <a:rPr lang="zh-CN" altLang="en-US" smtClean="0"/>
              <a:t>‹#›</a:t>
            </a:fld>
            <a:endParaRPr lang="zh-CN" altLang="en-US"/>
          </a:p>
        </p:txBody>
      </p:sp>
    </p:spTree>
    <p:extLst>
      <p:ext uri="{BB962C8B-B14F-4D97-AF65-F5344CB8AC3E}">
        <p14:creationId xmlns:p14="http://schemas.microsoft.com/office/powerpoint/2010/main" val="1039572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734A07-1800-14CD-6BA7-664C3724150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11610C1-F8E4-9240-F902-D4404893FA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3AA7296-631C-863C-A3CD-D30F5BC88B5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8894F49-F437-EB75-A92B-F02400B27C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81F35CE-37AD-3BB6-F21C-915D6F773CE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34584DB-D5D1-6F41-B36E-DC4F06236432}"/>
              </a:ext>
            </a:extLst>
          </p:cNvPr>
          <p:cNvSpPr>
            <a:spLocks noGrp="1"/>
          </p:cNvSpPr>
          <p:nvPr>
            <p:ph type="dt" sz="half" idx="10"/>
          </p:nvPr>
        </p:nvSpPr>
        <p:spPr/>
        <p:txBody>
          <a:bodyPr/>
          <a:lstStyle/>
          <a:p>
            <a:fld id="{9353F0D5-4488-47F7-BD66-38F9D1065222}" type="datetimeFigureOut">
              <a:rPr lang="zh-CN" altLang="en-US" smtClean="0"/>
              <a:t>2026/6/14</a:t>
            </a:fld>
            <a:endParaRPr lang="zh-CN" altLang="en-US"/>
          </a:p>
        </p:txBody>
      </p:sp>
      <p:sp>
        <p:nvSpPr>
          <p:cNvPr id="8" name="页脚占位符 7">
            <a:extLst>
              <a:ext uri="{FF2B5EF4-FFF2-40B4-BE49-F238E27FC236}">
                <a16:creationId xmlns:a16="http://schemas.microsoft.com/office/drawing/2014/main" id="{53707A73-790F-D698-5DED-213E38597FE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E19F9CA-48D2-6331-6620-794D077F77D4}"/>
              </a:ext>
            </a:extLst>
          </p:cNvPr>
          <p:cNvSpPr>
            <a:spLocks noGrp="1"/>
          </p:cNvSpPr>
          <p:nvPr>
            <p:ph type="sldNum" sz="quarter" idx="12"/>
          </p:nvPr>
        </p:nvSpPr>
        <p:spPr/>
        <p:txBody>
          <a:bodyPr/>
          <a:lstStyle/>
          <a:p>
            <a:fld id="{3EACAA9F-E62B-4818-B0D0-58D9426EA490}" type="slidenum">
              <a:rPr lang="zh-CN" altLang="en-US" smtClean="0"/>
              <a:t>‹#›</a:t>
            </a:fld>
            <a:endParaRPr lang="zh-CN" altLang="en-US"/>
          </a:p>
        </p:txBody>
      </p:sp>
    </p:spTree>
    <p:extLst>
      <p:ext uri="{BB962C8B-B14F-4D97-AF65-F5344CB8AC3E}">
        <p14:creationId xmlns:p14="http://schemas.microsoft.com/office/powerpoint/2010/main" val="1269704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4EFD95-F59C-269E-193C-8E74955D40F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732DC19-71AB-EEDD-BDC5-1E147ACDECC9}"/>
              </a:ext>
            </a:extLst>
          </p:cNvPr>
          <p:cNvSpPr>
            <a:spLocks noGrp="1"/>
          </p:cNvSpPr>
          <p:nvPr>
            <p:ph type="dt" sz="half" idx="10"/>
          </p:nvPr>
        </p:nvSpPr>
        <p:spPr/>
        <p:txBody>
          <a:bodyPr/>
          <a:lstStyle/>
          <a:p>
            <a:fld id="{9353F0D5-4488-47F7-BD66-38F9D1065222}" type="datetimeFigureOut">
              <a:rPr lang="zh-CN" altLang="en-US" smtClean="0"/>
              <a:t>2026/6/14</a:t>
            </a:fld>
            <a:endParaRPr lang="zh-CN" altLang="en-US"/>
          </a:p>
        </p:txBody>
      </p:sp>
      <p:sp>
        <p:nvSpPr>
          <p:cNvPr id="4" name="页脚占位符 3">
            <a:extLst>
              <a:ext uri="{FF2B5EF4-FFF2-40B4-BE49-F238E27FC236}">
                <a16:creationId xmlns:a16="http://schemas.microsoft.com/office/drawing/2014/main" id="{9A055D7A-B163-9D43-B7F7-9B40BF0FDF7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49DA417-389E-7CF9-222A-A19BD2E60B30}"/>
              </a:ext>
            </a:extLst>
          </p:cNvPr>
          <p:cNvSpPr>
            <a:spLocks noGrp="1"/>
          </p:cNvSpPr>
          <p:nvPr>
            <p:ph type="sldNum" sz="quarter" idx="12"/>
          </p:nvPr>
        </p:nvSpPr>
        <p:spPr/>
        <p:txBody>
          <a:bodyPr/>
          <a:lstStyle/>
          <a:p>
            <a:fld id="{3EACAA9F-E62B-4818-B0D0-58D9426EA490}" type="slidenum">
              <a:rPr lang="zh-CN" altLang="en-US" smtClean="0"/>
              <a:t>‹#›</a:t>
            </a:fld>
            <a:endParaRPr lang="zh-CN" altLang="en-US"/>
          </a:p>
        </p:txBody>
      </p:sp>
    </p:spTree>
    <p:extLst>
      <p:ext uri="{BB962C8B-B14F-4D97-AF65-F5344CB8AC3E}">
        <p14:creationId xmlns:p14="http://schemas.microsoft.com/office/powerpoint/2010/main" val="1029274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6DA7AC0-8078-7ED5-6AC1-FCE2312E6299}"/>
              </a:ext>
            </a:extLst>
          </p:cNvPr>
          <p:cNvSpPr>
            <a:spLocks noGrp="1"/>
          </p:cNvSpPr>
          <p:nvPr>
            <p:ph type="dt" sz="half" idx="10"/>
          </p:nvPr>
        </p:nvSpPr>
        <p:spPr/>
        <p:txBody>
          <a:bodyPr/>
          <a:lstStyle/>
          <a:p>
            <a:fld id="{9353F0D5-4488-47F7-BD66-38F9D1065222}" type="datetimeFigureOut">
              <a:rPr lang="zh-CN" altLang="en-US" smtClean="0"/>
              <a:t>2026/6/14</a:t>
            </a:fld>
            <a:endParaRPr lang="zh-CN" altLang="en-US"/>
          </a:p>
        </p:txBody>
      </p:sp>
      <p:sp>
        <p:nvSpPr>
          <p:cNvPr id="3" name="页脚占位符 2">
            <a:extLst>
              <a:ext uri="{FF2B5EF4-FFF2-40B4-BE49-F238E27FC236}">
                <a16:creationId xmlns:a16="http://schemas.microsoft.com/office/drawing/2014/main" id="{65E80F76-90E6-8591-FBDA-2838B8C8941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0665B76-A620-1624-38E0-2833CC9F4587}"/>
              </a:ext>
            </a:extLst>
          </p:cNvPr>
          <p:cNvSpPr>
            <a:spLocks noGrp="1"/>
          </p:cNvSpPr>
          <p:nvPr>
            <p:ph type="sldNum" sz="quarter" idx="12"/>
          </p:nvPr>
        </p:nvSpPr>
        <p:spPr/>
        <p:txBody>
          <a:bodyPr/>
          <a:lstStyle/>
          <a:p>
            <a:fld id="{3EACAA9F-E62B-4818-B0D0-58D9426EA490}" type="slidenum">
              <a:rPr lang="zh-CN" altLang="en-US" smtClean="0"/>
              <a:t>‹#›</a:t>
            </a:fld>
            <a:endParaRPr lang="zh-CN" altLang="en-US"/>
          </a:p>
        </p:txBody>
      </p:sp>
    </p:spTree>
    <p:extLst>
      <p:ext uri="{BB962C8B-B14F-4D97-AF65-F5344CB8AC3E}">
        <p14:creationId xmlns:p14="http://schemas.microsoft.com/office/powerpoint/2010/main" val="1644700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99B438-BBE2-3CC7-037F-621BAAF83D5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31521D1-473A-8C03-B649-9FE5622CAF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FDEDB28-C7AC-A8A9-9CBE-1926E2704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633F6D5-5206-D4BE-375F-82228CAF1CF1}"/>
              </a:ext>
            </a:extLst>
          </p:cNvPr>
          <p:cNvSpPr>
            <a:spLocks noGrp="1"/>
          </p:cNvSpPr>
          <p:nvPr>
            <p:ph type="dt" sz="half" idx="10"/>
          </p:nvPr>
        </p:nvSpPr>
        <p:spPr/>
        <p:txBody>
          <a:bodyPr/>
          <a:lstStyle/>
          <a:p>
            <a:fld id="{9353F0D5-4488-47F7-BD66-38F9D1065222}" type="datetimeFigureOut">
              <a:rPr lang="zh-CN" altLang="en-US" smtClean="0"/>
              <a:t>2026/6/14</a:t>
            </a:fld>
            <a:endParaRPr lang="zh-CN" altLang="en-US"/>
          </a:p>
        </p:txBody>
      </p:sp>
      <p:sp>
        <p:nvSpPr>
          <p:cNvPr id="6" name="页脚占位符 5">
            <a:extLst>
              <a:ext uri="{FF2B5EF4-FFF2-40B4-BE49-F238E27FC236}">
                <a16:creationId xmlns:a16="http://schemas.microsoft.com/office/drawing/2014/main" id="{A7271332-17A6-69F8-9817-EEBBB1596C8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776420C-BEEF-2FAB-93B3-9A0BEA99FE26}"/>
              </a:ext>
            </a:extLst>
          </p:cNvPr>
          <p:cNvSpPr>
            <a:spLocks noGrp="1"/>
          </p:cNvSpPr>
          <p:nvPr>
            <p:ph type="sldNum" sz="quarter" idx="12"/>
          </p:nvPr>
        </p:nvSpPr>
        <p:spPr/>
        <p:txBody>
          <a:bodyPr/>
          <a:lstStyle/>
          <a:p>
            <a:fld id="{3EACAA9F-E62B-4818-B0D0-58D9426EA490}" type="slidenum">
              <a:rPr lang="zh-CN" altLang="en-US" smtClean="0"/>
              <a:t>‹#›</a:t>
            </a:fld>
            <a:endParaRPr lang="zh-CN" altLang="en-US"/>
          </a:p>
        </p:txBody>
      </p:sp>
    </p:spTree>
    <p:extLst>
      <p:ext uri="{BB962C8B-B14F-4D97-AF65-F5344CB8AC3E}">
        <p14:creationId xmlns:p14="http://schemas.microsoft.com/office/powerpoint/2010/main" val="578611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FE2F5B-4977-D60A-A205-87766553DB9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345CBC1-A4FF-C9E2-0A9D-69CDF196B8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0CAEC17-2A42-B3BE-52A9-88216CC591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7F28B59-0516-BEBC-87B6-5A4FE76D272D}"/>
              </a:ext>
            </a:extLst>
          </p:cNvPr>
          <p:cNvSpPr>
            <a:spLocks noGrp="1"/>
          </p:cNvSpPr>
          <p:nvPr>
            <p:ph type="dt" sz="half" idx="10"/>
          </p:nvPr>
        </p:nvSpPr>
        <p:spPr/>
        <p:txBody>
          <a:bodyPr/>
          <a:lstStyle/>
          <a:p>
            <a:fld id="{9353F0D5-4488-47F7-BD66-38F9D1065222}" type="datetimeFigureOut">
              <a:rPr lang="zh-CN" altLang="en-US" smtClean="0"/>
              <a:t>2026/6/14</a:t>
            </a:fld>
            <a:endParaRPr lang="zh-CN" altLang="en-US"/>
          </a:p>
        </p:txBody>
      </p:sp>
      <p:sp>
        <p:nvSpPr>
          <p:cNvPr id="6" name="页脚占位符 5">
            <a:extLst>
              <a:ext uri="{FF2B5EF4-FFF2-40B4-BE49-F238E27FC236}">
                <a16:creationId xmlns:a16="http://schemas.microsoft.com/office/drawing/2014/main" id="{14BF4A89-8055-A080-6998-8F1DAE3B9C8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132C1A5-9714-205C-6878-A386BE0B3934}"/>
              </a:ext>
            </a:extLst>
          </p:cNvPr>
          <p:cNvSpPr>
            <a:spLocks noGrp="1"/>
          </p:cNvSpPr>
          <p:nvPr>
            <p:ph type="sldNum" sz="quarter" idx="12"/>
          </p:nvPr>
        </p:nvSpPr>
        <p:spPr/>
        <p:txBody>
          <a:bodyPr/>
          <a:lstStyle/>
          <a:p>
            <a:fld id="{3EACAA9F-E62B-4818-B0D0-58D9426EA490}" type="slidenum">
              <a:rPr lang="zh-CN" altLang="en-US" smtClean="0"/>
              <a:t>‹#›</a:t>
            </a:fld>
            <a:endParaRPr lang="zh-CN" altLang="en-US"/>
          </a:p>
        </p:txBody>
      </p:sp>
    </p:spTree>
    <p:extLst>
      <p:ext uri="{BB962C8B-B14F-4D97-AF65-F5344CB8AC3E}">
        <p14:creationId xmlns:p14="http://schemas.microsoft.com/office/powerpoint/2010/main" val="4098711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56989B-CABE-A4F4-B526-CE97225073C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1FBDD15-0CA7-3CB5-1A45-BC419102FC9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A28A2C8-746C-B165-F1AC-20A9B68F9765}"/>
              </a:ext>
            </a:extLst>
          </p:cNvPr>
          <p:cNvSpPr>
            <a:spLocks noGrp="1"/>
          </p:cNvSpPr>
          <p:nvPr>
            <p:ph type="dt" sz="half" idx="10"/>
          </p:nvPr>
        </p:nvSpPr>
        <p:spPr/>
        <p:txBody>
          <a:bodyPr/>
          <a:lstStyle/>
          <a:p>
            <a:fld id="{9353F0D5-4488-47F7-BD66-38F9D1065222}" type="datetimeFigureOut">
              <a:rPr lang="zh-CN" altLang="en-US" smtClean="0"/>
              <a:t>2026/6/14</a:t>
            </a:fld>
            <a:endParaRPr lang="zh-CN" altLang="en-US"/>
          </a:p>
        </p:txBody>
      </p:sp>
      <p:sp>
        <p:nvSpPr>
          <p:cNvPr id="5" name="页脚占位符 4">
            <a:extLst>
              <a:ext uri="{FF2B5EF4-FFF2-40B4-BE49-F238E27FC236}">
                <a16:creationId xmlns:a16="http://schemas.microsoft.com/office/drawing/2014/main" id="{18884AE9-D073-0C1C-1B6C-ED8C8733A60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37BF559-ADDE-3697-818B-247E93EACB00}"/>
              </a:ext>
            </a:extLst>
          </p:cNvPr>
          <p:cNvSpPr>
            <a:spLocks noGrp="1"/>
          </p:cNvSpPr>
          <p:nvPr>
            <p:ph type="sldNum" sz="quarter" idx="12"/>
          </p:nvPr>
        </p:nvSpPr>
        <p:spPr/>
        <p:txBody>
          <a:bodyPr/>
          <a:lstStyle/>
          <a:p>
            <a:fld id="{3EACAA9F-E62B-4818-B0D0-58D9426EA490}" type="slidenum">
              <a:rPr lang="zh-CN" altLang="en-US" smtClean="0"/>
              <a:t>‹#›</a:t>
            </a:fld>
            <a:endParaRPr lang="zh-CN" altLang="en-US"/>
          </a:p>
        </p:txBody>
      </p:sp>
    </p:spTree>
    <p:extLst>
      <p:ext uri="{BB962C8B-B14F-4D97-AF65-F5344CB8AC3E}">
        <p14:creationId xmlns:p14="http://schemas.microsoft.com/office/powerpoint/2010/main" val="2770553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A4165A6-6F17-5C62-3B3C-AA765D360F7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D143CE0-A27F-1433-A9A3-3663901D1C5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D0A80D6-3870-3F8B-4FFC-8DC033018276}"/>
              </a:ext>
            </a:extLst>
          </p:cNvPr>
          <p:cNvSpPr>
            <a:spLocks noGrp="1"/>
          </p:cNvSpPr>
          <p:nvPr>
            <p:ph type="dt" sz="half" idx="10"/>
          </p:nvPr>
        </p:nvSpPr>
        <p:spPr/>
        <p:txBody>
          <a:bodyPr/>
          <a:lstStyle/>
          <a:p>
            <a:fld id="{9353F0D5-4488-47F7-BD66-38F9D1065222}" type="datetimeFigureOut">
              <a:rPr lang="zh-CN" altLang="en-US" smtClean="0"/>
              <a:t>2026/6/14</a:t>
            </a:fld>
            <a:endParaRPr lang="zh-CN" altLang="en-US"/>
          </a:p>
        </p:txBody>
      </p:sp>
      <p:sp>
        <p:nvSpPr>
          <p:cNvPr id="5" name="页脚占位符 4">
            <a:extLst>
              <a:ext uri="{FF2B5EF4-FFF2-40B4-BE49-F238E27FC236}">
                <a16:creationId xmlns:a16="http://schemas.microsoft.com/office/drawing/2014/main" id="{15AA9ACD-78A9-4B5F-DD44-0AF61EEAA8D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465909-8FF5-062C-BA3D-0015DD2CBA36}"/>
              </a:ext>
            </a:extLst>
          </p:cNvPr>
          <p:cNvSpPr>
            <a:spLocks noGrp="1"/>
          </p:cNvSpPr>
          <p:nvPr>
            <p:ph type="sldNum" sz="quarter" idx="12"/>
          </p:nvPr>
        </p:nvSpPr>
        <p:spPr/>
        <p:txBody>
          <a:bodyPr/>
          <a:lstStyle/>
          <a:p>
            <a:fld id="{3EACAA9F-E62B-4818-B0D0-58D9426EA490}" type="slidenum">
              <a:rPr lang="zh-CN" altLang="en-US" smtClean="0"/>
              <a:t>‹#›</a:t>
            </a:fld>
            <a:endParaRPr lang="zh-CN" altLang="en-US"/>
          </a:p>
        </p:txBody>
      </p:sp>
    </p:spTree>
    <p:extLst>
      <p:ext uri="{BB962C8B-B14F-4D97-AF65-F5344CB8AC3E}">
        <p14:creationId xmlns:p14="http://schemas.microsoft.com/office/powerpoint/2010/main" val="1167011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2CB7A42-694A-2121-476E-936079330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E1DEE73-8A05-DB08-5219-9D3C2A1179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D9EED9B-03EC-E2CE-CC0E-0CF036EF73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53F0D5-4488-47F7-BD66-38F9D1065222}" type="datetimeFigureOut">
              <a:rPr lang="zh-CN" altLang="en-US" smtClean="0"/>
              <a:t>2026/6/14</a:t>
            </a:fld>
            <a:endParaRPr lang="zh-CN" altLang="en-US"/>
          </a:p>
        </p:txBody>
      </p:sp>
      <p:sp>
        <p:nvSpPr>
          <p:cNvPr id="5" name="页脚占位符 4">
            <a:extLst>
              <a:ext uri="{FF2B5EF4-FFF2-40B4-BE49-F238E27FC236}">
                <a16:creationId xmlns:a16="http://schemas.microsoft.com/office/drawing/2014/main" id="{E50F036F-3810-431A-D0ED-9B76137C75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0950ADEB-8560-593C-3AA2-C54829CE8E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ACAA9F-E62B-4818-B0D0-58D9426EA490}" type="slidenum">
              <a:rPr lang="zh-CN" altLang="en-US" smtClean="0"/>
              <a:t>‹#›</a:t>
            </a:fld>
            <a:endParaRPr lang="zh-CN" altLang="en-US"/>
          </a:p>
        </p:txBody>
      </p:sp>
    </p:spTree>
    <p:extLst>
      <p:ext uri="{BB962C8B-B14F-4D97-AF65-F5344CB8AC3E}">
        <p14:creationId xmlns:p14="http://schemas.microsoft.com/office/powerpoint/2010/main" val="29453455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D4CD45-532A-D2D9-FF4C-B53099B4FCCE}"/>
              </a:ext>
            </a:extLst>
          </p:cNvPr>
          <p:cNvSpPr>
            <a:spLocks noGrp="1"/>
          </p:cNvSpPr>
          <p:nvPr>
            <p:ph type="ctrTitle"/>
          </p:nvPr>
        </p:nvSpPr>
        <p:spPr>
          <a:xfrm>
            <a:off x="1524000" y="676049"/>
            <a:ext cx="9144000" cy="2387600"/>
          </a:xfrm>
        </p:spPr>
        <p:txBody>
          <a:bodyPr/>
          <a:lstStyle/>
          <a:p>
            <a:r>
              <a:rPr lang="zh-CN" altLang="zh-CN" sz="5400" b="1" dirty="0">
                <a:latin typeface="+mn-ea"/>
                <a:ea typeface="+mn-ea"/>
              </a:rPr>
              <a:t>显著性目标检测</a:t>
            </a:r>
            <a:endParaRPr lang="zh-CN" altLang="en-US" sz="5400" b="1" dirty="0">
              <a:latin typeface="+mn-ea"/>
              <a:ea typeface="+mn-ea"/>
            </a:endParaRPr>
          </a:p>
        </p:txBody>
      </p:sp>
      <p:sp>
        <p:nvSpPr>
          <p:cNvPr id="3" name="副标题 2">
            <a:extLst>
              <a:ext uri="{FF2B5EF4-FFF2-40B4-BE49-F238E27FC236}">
                <a16:creationId xmlns:a16="http://schemas.microsoft.com/office/drawing/2014/main" id="{4EEE31BB-0AE3-7B80-7CD5-FC3DD246ADE2}"/>
              </a:ext>
            </a:extLst>
          </p:cNvPr>
          <p:cNvSpPr>
            <a:spLocks noGrp="1"/>
          </p:cNvSpPr>
          <p:nvPr>
            <p:ph type="subTitle" idx="1"/>
          </p:nvPr>
        </p:nvSpPr>
        <p:spPr/>
        <p:txBody>
          <a:bodyPr/>
          <a:lstStyle/>
          <a:p>
            <a:r>
              <a:rPr lang="zh-CN" altLang="en-US" dirty="0">
                <a:latin typeface="华文中宋" panose="02010600040101010101" pitchFamily="2" charset="-122"/>
                <a:ea typeface="华文中宋" panose="02010600040101010101" pitchFamily="2" charset="-122"/>
              </a:rPr>
              <a:t>小组成员：陈天祺、邵莫涵、杨欣瑞</a:t>
            </a:r>
            <a:endParaRPr lang="en-US" altLang="zh-CN" dirty="0">
              <a:latin typeface="华文中宋" panose="02010600040101010101" pitchFamily="2" charset="-122"/>
              <a:ea typeface="华文中宋" panose="02010600040101010101" pitchFamily="2" charset="-122"/>
            </a:endParaRPr>
          </a:p>
          <a:p>
            <a:endParaRPr lang="zh-CN" altLang="en-US" dirty="0"/>
          </a:p>
        </p:txBody>
      </p:sp>
    </p:spTree>
    <p:extLst>
      <p:ext uri="{BB962C8B-B14F-4D97-AF65-F5344CB8AC3E}">
        <p14:creationId xmlns:p14="http://schemas.microsoft.com/office/powerpoint/2010/main" val="1167612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9594E2-9705-C718-739E-A074D40AD1A8}"/>
              </a:ext>
            </a:extLst>
          </p:cNvPr>
          <p:cNvSpPr>
            <a:spLocks noGrp="1"/>
          </p:cNvSpPr>
          <p:nvPr>
            <p:ph type="title"/>
          </p:nvPr>
        </p:nvSpPr>
        <p:spPr/>
        <p:txBody>
          <a:bodyPr/>
          <a:lstStyle/>
          <a:p>
            <a:r>
              <a:rPr lang="zh-CN" altLang="zh-CN" b="1" dirty="0"/>
              <a:t>什么是显著性目标检测？</a:t>
            </a:r>
            <a:endParaRPr lang="zh-CN" altLang="en-US" b="1" dirty="0"/>
          </a:p>
        </p:txBody>
      </p:sp>
      <p:pic>
        <p:nvPicPr>
          <p:cNvPr id="5" name="内容占位符 4">
            <a:extLst>
              <a:ext uri="{FF2B5EF4-FFF2-40B4-BE49-F238E27FC236}">
                <a16:creationId xmlns:a16="http://schemas.microsoft.com/office/drawing/2014/main" id="{56972BDE-2B53-FD41-FBA7-915B55762194}"/>
              </a:ext>
            </a:extLst>
          </p:cNvPr>
          <p:cNvPicPr>
            <a:picLocks noGrp="1" noChangeAspect="1"/>
          </p:cNvPicPr>
          <p:nvPr>
            <p:ph idx="1"/>
          </p:nvPr>
        </p:nvPicPr>
        <p:blipFill>
          <a:blip r:embed="rId3"/>
          <a:srcRect b="32306"/>
          <a:stretch>
            <a:fillRect/>
          </a:stretch>
        </p:blipFill>
        <p:spPr>
          <a:xfrm>
            <a:off x="773664" y="1372706"/>
            <a:ext cx="7423537" cy="5343780"/>
          </a:xfrm>
          <a:prstGeom prst="rect">
            <a:avLst/>
          </a:prstGeom>
        </p:spPr>
      </p:pic>
      <p:sp>
        <p:nvSpPr>
          <p:cNvPr id="6" name="文本框 5">
            <a:extLst>
              <a:ext uri="{FF2B5EF4-FFF2-40B4-BE49-F238E27FC236}">
                <a16:creationId xmlns:a16="http://schemas.microsoft.com/office/drawing/2014/main" id="{AF81ED79-1B52-056C-377D-3955611F0F87}"/>
              </a:ext>
            </a:extLst>
          </p:cNvPr>
          <p:cNvSpPr txBox="1"/>
          <p:nvPr/>
        </p:nvSpPr>
        <p:spPr>
          <a:xfrm>
            <a:off x="8599714" y="1514220"/>
            <a:ext cx="3124199" cy="4031873"/>
          </a:xfrm>
          <a:prstGeom prst="rect">
            <a:avLst/>
          </a:prstGeom>
          <a:noFill/>
        </p:spPr>
        <p:txBody>
          <a:bodyPr wrap="square" rtlCol="0">
            <a:spAutoFit/>
          </a:bodyPr>
          <a:lstStyle/>
          <a:p>
            <a:r>
              <a:rPr lang="zh-CN" altLang="zh-CN" sz="3200" dirty="0"/>
              <a:t>显著性目标检测是指让模型自动找出图像中最吸引人眼球的目标区域，并输出一张与原图等大的二值掩码来标注它的位置和轮廓。</a:t>
            </a:r>
            <a:endParaRPr lang="zh-CN" altLang="en-US" sz="3200" dirty="0"/>
          </a:p>
        </p:txBody>
      </p:sp>
    </p:spTree>
    <p:extLst>
      <p:ext uri="{BB962C8B-B14F-4D97-AF65-F5344CB8AC3E}">
        <p14:creationId xmlns:p14="http://schemas.microsoft.com/office/powerpoint/2010/main" val="1972764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179155-0212-60B7-4930-47A5C156E32B}"/>
              </a:ext>
            </a:extLst>
          </p:cNvPr>
          <p:cNvSpPr>
            <a:spLocks noGrp="1"/>
          </p:cNvSpPr>
          <p:nvPr>
            <p:ph type="title"/>
          </p:nvPr>
        </p:nvSpPr>
        <p:spPr>
          <a:xfrm>
            <a:off x="500744" y="76200"/>
            <a:ext cx="10515600" cy="1325563"/>
          </a:xfrm>
        </p:spPr>
        <p:txBody>
          <a:bodyPr/>
          <a:lstStyle/>
          <a:p>
            <a:r>
              <a:rPr lang="zh-CN" altLang="zh-CN" b="1" dirty="0"/>
              <a:t>数据集</a:t>
            </a:r>
            <a:r>
              <a:rPr lang="zh-CN" altLang="en-US" b="1" dirty="0"/>
              <a:t>与</a:t>
            </a:r>
            <a:r>
              <a:rPr lang="zh-CN" altLang="zh-CN" b="1" dirty="0"/>
              <a:t>实验设置</a:t>
            </a:r>
            <a:endParaRPr lang="zh-CN" altLang="en-US" dirty="0"/>
          </a:p>
        </p:txBody>
      </p:sp>
      <p:graphicFrame>
        <p:nvGraphicFramePr>
          <p:cNvPr id="4" name="内容占位符 3">
            <a:extLst>
              <a:ext uri="{FF2B5EF4-FFF2-40B4-BE49-F238E27FC236}">
                <a16:creationId xmlns:a16="http://schemas.microsoft.com/office/drawing/2014/main" id="{18B1E988-5D04-CBD9-D18A-331C3C2E4C45}"/>
              </a:ext>
            </a:extLst>
          </p:cNvPr>
          <p:cNvGraphicFramePr>
            <a:graphicFrameLocks noGrp="1"/>
          </p:cNvGraphicFramePr>
          <p:nvPr>
            <p:ph idx="1"/>
            <p:extLst>
              <p:ext uri="{D42A27DB-BD31-4B8C-83A1-F6EECF244321}">
                <p14:modId xmlns:p14="http://schemas.microsoft.com/office/powerpoint/2010/main" val="918329865"/>
              </p:ext>
            </p:extLst>
          </p:nvPr>
        </p:nvGraphicFramePr>
        <p:xfrm>
          <a:off x="500744" y="1179296"/>
          <a:ext cx="5414001" cy="5384793"/>
        </p:xfrm>
        <a:graphic>
          <a:graphicData uri="http://schemas.openxmlformats.org/drawingml/2006/table">
            <a:tbl>
              <a:tblPr/>
              <a:tblGrid>
                <a:gridCol w="1533967">
                  <a:extLst>
                    <a:ext uri="{9D8B030D-6E8A-4147-A177-3AD203B41FA5}">
                      <a16:colId xmlns:a16="http://schemas.microsoft.com/office/drawing/2014/main" val="3571050505"/>
                    </a:ext>
                  </a:extLst>
                </a:gridCol>
                <a:gridCol w="3880034">
                  <a:extLst>
                    <a:ext uri="{9D8B030D-6E8A-4147-A177-3AD203B41FA5}">
                      <a16:colId xmlns:a16="http://schemas.microsoft.com/office/drawing/2014/main" val="2637988316"/>
                    </a:ext>
                  </a:extLst>
                </a:gridCol>
              </a:tblGrid>
              <a:tr h="389620">
                <a:tc>
                  <a:txBody>
                    <a:bodyPr/>
                    <a:lstStyle/>
                    <a:p>
                      <a:pPr algn="l" fontAlgn="t">
                        <a:buNone/>
                      </a:pPr>
                      <a:r>
                        <a:rPr lang="zh-CN" sz="1600" b="1">
                          <a:solidFill>
                            <a:srgbClr val="FFFFFF"/>
                          </a:solidFill>
                          <a:effectLst/>
                        </a:rPr>
                        <a:t>项目</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76453B"/>
                    </a:solidFill>
                  </a:tcPr>
                </a:tc>
                <a:tc>
                  <a:txBody>
                    <a:bodyPr/>
                    <a:lstStyle/>
                    <a:p>
                      <a:pPr algn="l" fontAlgn="t">
                        <a:buNone/>
                      </a:pPr>
                      <a:r>
                        <a:rPr lang="zh-CN" sz="1600" b="1" dirty="0">
                          <a:solidFill>
                            <a:srgbClr val="FFFFFF"/>
                          </a:solidFill>
                          <a:effectLst/>
                        </a:rPr>
                        <a:t>配置</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76453B"/>
                    </a:solidFill>
                  </a:tcPr>
                </a:tc>
                <a:extLst>
                  <a:ext uri="{0D108BD9-81ED-4DB2-BD59-A6C34878D82A}">
                    <a16:rowId xmlns:a16="http://schemas.microsoft.com/office/drawing/2014/main" val="2584360470"/>
                  </a:ext>
                </a:extLst>
              </a:tr>
              <a:tr h="389620">
                <a:tc>
                  <a:txBody>
                    <a:bodyPr/>
                    <a:lstStyle/>
                    <a:p>
                      <a:pPr algn="l" fontAlgn="t">
                        <a:buNone/>
                      </a:pPr>
                      <a:r>
                        <a:rPr lang="zh-CN" sz="1600">
                          <a:solidFill>
                            <a:srgbClr val="000000"/>
                          </a:solidFill>
                          <a:effectLst/>
                        </a:rPr>
                        <a:t>输入分辨率</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tc>
                  <a:txBody>
                    <a:bodyPr/>
                    <a:lstStyle/>
                    <a:p>
                      <a:pPr algn="l" fontAlgn="t">
                        <a:buNone/>
                      </a:pPr>
                      <a:r>
                        <a:rPr lang="zh-CN" sz="1600">
                          <a:solidFill>
                            <a:srgbClr val="000000"/>
                          </a:solidFill>
                          <a:effectLst/>
                        </a:rPr>
                        <a:t>320 × 320</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extLst>
                  <a:ext uri="{0D108BD9-81ED-4DB2-BD59-A6C34878D82A}">
                    <a16:rowId xmlns:a16="http://schemas.microsoft.com/office/drawing/2014/main" val="2454873944"/>
                  </a:ext>
                </a:extLst>
              </a:tr>
              <a:tr h="389620">
                <a:tc>
                  <a:txBody>
                    <a:bodyPr/>
                    <a:lstStyle/>
                    <a:p>
                      <a:pPr algn="l" fontAlgn="t">
                        <a:buNone/>
                      </a:pPr>
                      <a:r>
                        <a:rPr lang="zh-CN" sz="1600">
                          <a:solidFill>
                            <a:srgbClr val="000000"/>
                          </a:solidFill>
                          <a:effectLst/>
                        </a:rPr>
                        <a:t>Backbone</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tc>
                  <a:txBody>
                    <a:bodyPr/>
                    <a:lstStyle/>
                    <a:p>
                      <a:pPr algn="l" fontAlgn="t">
                        <a:buNone/>
                      </a:pPr>
                      <a:r>
                        <a:rPr lang="zh-CN" sz="1600">
                          <a:solidFill>
                            <a:srgbClr val="000000"/>
                          </a:solidFill>
                          <a:effectLst/>
                        </a:rPr>
                        <a:t>ResNet-34（ImageNet 预训练）</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extLst>
                  <a:ext uri="{0D108BD9-81ED-4DB2-BD59-A6C34878D82A}">
                    <a16:rowId xmlns:a16="http://schemas.microsoft.com/office/drawing/2014/main" val="1796050926"/>
                  </a:ext>
                </a:extLst>
              </a:tr>
              <a:tr h="389620">
                <a:tc>
                  <a:txBody>
                    <a:bodyPr/>
                    <a:lstStyle/>
                    <a:p>
                      <a:pPr algn="l" fontAlgn="t">
                        <a:buNone/>
                      </a:pPr>
                      <a:r>
                        <a:rPr lang="zh-CN" sz="1600">
                          <a:solidFill>
                            <a:srgbClr val="000000"/>
                          </a:solidFill>
                          <a:effectLst/>
                        </a:rPr>
                        <a:t>优化器</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tc>
                  <a:txBody>
                    <a:bodyPr/>
                    <a:lstStyle/>
                    <a:p>
                      <a:pPr algn="l" fontAlgn="t">
                        <a:buNone/>
                      </a:pPr>
                      <a:r>
                        <a:rPr lang="zh-CN" sz="1600">
                          <a:solidFill>
                            <a:srgbClr val="000000"/>
                          </a:solidFill>
                          <a:effectLst/>
                        </a:rPr>
                        <a:t>AdamW</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extLst>
                  <a:ext uri="{0D108BD9-81ED-4DB2-BD59-A6C34878D82A}">
                    <a16:rowId xmlns:a16="http://schemas.microsoft.com/office/drawing/2014/main" val="2306175685"/>
                  </a:ext>
                </a:extLst>
              </a:tr>
              <a:tr h="626071">
                <a:tc>
                  <a:txBody>
                    <a:bodyPr/>
                    <a:lstStyle/>
                    <a:p>
                      <a:pPr algn="l" fontAlgn="t">
                        <a:buNone/>
                      </a:pPr>
                      <a:r>
                        <a:rPr lang="zh-CN" sz="1600">
                          <a:solidFill>
                            <a:srgbClr val="000000"/>
                          </a:solidFill>
                          <a:effectLst/>
                        </a:rPr>
                        <a:t>Backbone 学习率</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tc>
                  <a:txBody>
                    <a:bodyPr/>
                    <a:lstStyle/>
                    <a:p>
                      <a:pPr algn="l" fontAlgn="t">
                        <a:buNone/>
                      </a:pPr>
                      <a:r>
                        <a:rPr lang="zh-CN" sz="1600" dirty="0">
                          <a:solidFill>
                            <a:srgbClr val="000000"/>
                          </a:solidFill>
                          <a:effectLst/>
                        </a:rPr>
                        <a:t>5e-5</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extLst>
                  <a:ext uri="{0D108BD9-81ED-4DB2-BD59-A6C34878D82A}">
                    <a16:rowId xmlns:a16="http://schemas.microsoft.com/office/drawing/2014/main" val="335691065"/>
                  </a:ext>
                </a:extLst>
              </a:tr>
              <a:tr h="626071">
                <a:tc>
                  <a:txBody>
                    <a:bodyPr/>
                    <a:lstStyle/>
                    <a:p>
                      <a:pPr algn="l" fontAlgn="t">
                        <a:buNone/>
                      </a:pPr>
                      <a:r>
                        <a:rPr lang="zh-CN" sz="1600">
                          <a:solidFill>
                            <a:srgbClr val="000000"/>
                          </a:solidFill>
                          <a:effectLst/>
                        </a:rPr>
                        <a:t>Decoder 学习率</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tc>
                  <a:txBody>
                    <a:bodyPr/>
                    <a:lstStyle/>
                    <a:p>
                      <a:pPr algn="l" fontAlgn="t">
                        <a:buNone/>
                      </a:pPr>
                      <a:r>
                        <a:rPr lang="zh-CN" sz="1600">
                          <a:solidFill>
                            <a:srgbClr val="000000"/>
                          </a:solidFill>
                          <a:effectLst/>
                        </a:rPr>
                        <a:t>3e-4</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extLst>
                  <a:ext uri="{0D108BD9-81ED-4DB2-BD59-A6C34878D82A}">
                    <a16:rowId xmlns:a16="http://schemas.microsoft.com/office/drawing/2014/main" val="1979670816"/>
                  </a:ext>
                </a:extLst>
              </a:tr>
              <a:tr h="389620">
                <a:tc>
                  <a:txBody>
                    <a:bodyPr/>
                    <a:lstStyle/>
                    <a:p>
                      <a:pPr algn="l" fontAlgn="t">
                        <a:buNone/>
                      </a:pPr>
                      <a:r>
                        <a:rPr lang="zh-CN" sz="1600">
                          <a:solidFill>
                            <a:srgbClr val="000000"/>
                          </a:solidFill>
                          <a:effectLst/>
                        </a:rPr>
                        <a:t>学习率衰减</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tc>
                  <a:txBody>
                    <a:bodyPr/>
                    <a:lstStyle/>
                    <a:p>
                      <a:pPr algn="l" fontAlgn="t">
                        <a:buNone/>
                      </a:pPr>
                      <a:r>
                        <a:rPr lang="zh-CN" sz="1600">
                          <a:solidFill>
                            <a:srgbClr val="000000"/>
                          </a:solidFill>
                          <a:effectLst/>
                        </a:rPr>
                        <a:t>MultiStepLR，第 15、22 epoch 衰减 ×0.1</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extLst>
                  <a:ext uri="{0D108BD9-81ED-4DB2-BD59-A6C34878D82A}">
                    <a16:rowId xmlns:a16="http://schemas.microsoft.com/office/drawing/2014/main" val="3863805785"/>
                  </a:ext>
                </a:extLst>
              </a:tr>
              <a:tr h="389620">
                <a:tc>
                  <a:txBody>
                    <a:bodyPr/>
                    <a:lstStyle/>
                    <a:p>
                      <a:pPr algn="l" fontAlgn="t">
                        <a:buNone/>
                      </a:pPr>
                      <a:r>
                        <a:rPr lang="zh-CN" sz="1600">
                          <a:solidFill>
                            <a:srgbClr val="000000"/>
                          </a:solidFill>
                          <a:effectLst/>
                        </a:rPr>
                        <a:t>训练轮数</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tc>
                  <a:txBody>
                    <a:bodyPr/>
                    <a:lstStyle/>
                    <a:p>
                      <a:pPr algn="l" fontAlgn="t">
                        <a:buNone/>
                      </a:pPr>
                      <a:r>
                        <a:rPr lang="zh-CN" sz="1600">
                          <a:solidFill>
                            <a:srgbClr val="000000"/>
                          </a:solidFill>
                          <a:effectLst/>
                        </a:rPr>
                        <a:t>25 epochs</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extLst>
                  <a:ext uri="{0D108BD9-81ED-4DB2-BD59-A6C34878D82A}">
                    <a16:rowId xmlns:a16="http://schemas.microsoft.com/office/drawing/2014/main" val="3916344122"/>
                  </a:ext>
                </a:extLst>
              </a:tr>
              <a:tr h="389620">
                <a:tc>
                  <a:txBody>
                    <a:bodyPr/>
                    <a:lstStyle/>
                    <a:p>
                      <a:pPr algn="l" fontAlgn="t">
                        <a:buNone/>
                      </a:pPr>
                      <a:r>
                        <a:rPr lang="zh-CN" sz="1600">
                          <a:solidFill>
                            <a:srgbClr val="000000"/>
                          </a:solidFill>
                          <a:effectLst/>
                        </a:rPr>
                        <a:t>Batch Size</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tc>
                  <a:txBody>
                    <a:bodyPr/>
                    <a:lstStyle/>
                    <a:p>
                      <a:pPr algn="l" fontAlgn="t">
                        <a:buNone/>
                      </a:pPr>
                      <a:r>
                        <a:rPr lang="zh-CN" sz="1600">
                          <a:solidFill>
                            <a:srgbClr val="000000"/>
                          </a:solidFill>
                          <a:effectLst/>
                        </a:rPr>
                        <a:t>8</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extLst>
                  <a:ext uri="{0D108BD9-81ED-4DB2-BD59-A6C34878D82A}">
                    <a16:rowId xmlns:a16="http://schemas.microsoft.com/office/drawing/2014/main" val="1254050206"/>
                  </a:ext>
                </a:extLst>
              </a:tr>
              <a:tr h="389620">
                <a:tc>
                  <a:txBody>
                    <a:bodyPr/>
                    <a:lstStyle/>
                    <a:p>
                      <a:pPr algn="l" fontAlgn="t">
                        <a:buNone/>
                      </a:pPr>
                      <a:r>
                        <a:rPr lang="zh-CN" sz="1600">
                          <a:solidFill>
                            <a:srgbClr val="000000"/>
                          </a:solidFill>
                          <a:effectLst/>
                        </a:rPr>
                        <a:t>损失函数</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tc>
                  <a:txBody>
                    <a:bodyPr/>
                    <a:lstStyle/>
                    <a:p>
                      <a:pPr algn="l" fontAlgn="t">
                        <a:buNone/>
                      </a:pPr>
                      <a:r>
                        <a:rPr lang="zh-CN" sz="1600">
                          <a:solidFill>
                            <a:srgbClr val="000000"/>
                          </a:solidFill>
                          <a:effectLst/>
                        </a:rPr>
                        <a:t>BCE + SSIM + Soft IoU（主输出）</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extLst>
                  <a:ext uri="{0D108BD9-81ED-4DB2-BD59-A6C34878D82A}">
                    <a16:rowId xmlns:a16="http://schemas.microsoft.com/office/drawing/2014/main" val="2172275949"/>
                  </a:ext>
                </a:extLst>
              </a:tr>
              <a:tr h="626071">
                <a:tc>
                  <a:txBody>
                    <a:bodyPr/>
                    <a:lstStyle/>
                    <a:p>
                      <a:pPr algn="l" fontAlgn="t">
                        <a:buNone/>
                      </a:pPr>
                      <a:r>
                        <a:rPr lang="zh-CN" sz="1600">
                          <a:solidFill>
                            <a:srgbClr val="000000"/>
                          </a:solidFill>
                          <a:effectLst/>
                        </a:rPr>
                        <a:t>数据增强</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tc>
                  <a:txBody>
                    <a:bodyPr/>
                    <a:lstStyle/>
                    <a:p>
                      <a:pPr algn="l" fontAlgn="t">
                        <a:buNone/>
                      </a:pPr>
                      <a:r>
                        <a:rPr lang="zh-CN" sz="1600">
                          <a:solidFill>
                            <a:srgbClr val="000000"/>
                          </a:solidFill>
                          <a:effectLst/>
                        </a:rPr>
                        <a:t>随机水平翻转、归一化（ImageNet 均值/方差）</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extLst>
                  <a:ext uri="{0D108BD9-81ED-4DB2-BD59-A6C34878D82A}">
                    <a16:rowId xmlns:a16="http://schemas.microsoft.com/office/drawing/2014/main" val="3154035548"/>
                  </a:ext>
                </a:extLst>
              </a:tr>
              <a:tr h="389620">
                <a:tc>
                  <a:txBody>
                    <a:bodyPr/>
                    <a:lstStyle/>
                    <a:p>
                      <a:pPr algn="l" fontAlgn="t">
                        <a:buNone/>
                      </a:pPr>
                      <a:r>
                        <a:rPr lang="zh-CN" sz="1600">
                          <a:solidFill>
                            <a:srgbClr val="000000"/>
                          </a:solidFill>
                          <a:effectLst/>
                        </a:rPr>
                        <a:t>训练平台</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EAD8C0"/>
                    </a:solidFill>
                  </a:tcPr>
                </a:tc>
                <a:tc>
                  <a:txBody>
                    <a:bodyPr/>
                    <a:lstStyle/>
                    <a:p>
                      <a:pPr algn="l" fontAlgn="t">
                        <a:buNone/>
                      </a:pPr>
                      <a:r>
                        <a:rPr lang="zh-CN" sz="1600" dirty="0">
                          <a:solidFill>
                            <a:srgbClr val="000000"/>
                          </a:solidFill>
                          <a:effectLst/>
                        </a:rPr>
                        <a:t>AutoDL（GPU 服务器）</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EAD8C0"/>
                    </a:solidFill>
                  </a:tcPr>
                </a:tc>
                <a:extLst>
                  <a:ext uri="{0D108BD9-81ED-4DB2-BD59-A6C34878D82A}">
                    <a16:rowId xmlns:a16="http://schemas.microsoft.com/office/drawing/2014/main" val="1222212639"/>
                  </a:ext>
                </a:extLst>
              </a:tr>
            </a:tbl>
          </a:graphicData>
        </a:graphic>
      </p:graphicFrame>
      <p:graphicFrame>
        <p:nvGraphicFramePr>
          <p:cNvPr id="5" name="表格 4">
            <a:extLst>
              <a:ext uri="{FF2B5EF4-FFF2-40B4-BE49-F238E27FC236}">
                <a16:creationId xmlns:a16="http://schemas.microsoft.com/office/drawing/2014/main" id="{F50CFFE8-F31F-5F1E-2542-2B38DBC6C243}"/>
              </a:ext>
            </a:extLst>
          </p:cNvPr>
          <p:cNvGraphicFramePr>
            <a:graphicFrameLocks noGrp="1"/>
          </p:cNvGraphicFramePr>
          <p:nvPr>
            <p:extLst>
              <p:ext uri="{D42A27DB-BD31-4B8C-83A1-F6EECF244321}">
                <p14:modId xmlns:p14="http://schemas.microsoft.com/office/powerpoint/2010/main" val="1551800547"/>
              </p:ext>
            </p:extLst>
          </p:nvPr>
        </p:nvGraphicFramePr>
        <p:xfrm>
          <a:off x="6357256" y="1179295"/>
          <a:ext cx="5693229" cy="2668838"/>
        </p:xfrm>
        <a:graphic>
          <a:graphicData uri="http://schemas.openxmlformats.org/drawingml/2006/table">
            <a:tbl>
              <a:tblPr/>
              <a:tblGrid>
                <a:gridCol w="1786112">
                  <a:extLst>
                    <a:ext uri="{9D8B030D-6E8A-4147-A177-3AD203B41FA5}">
                      <a16:colId xmlns:a16="http://schemas.microsoft.com/office/drawing/2014/main" val="1679057873"/>
                    </a:ext>
                  </a:extLst>
                </a:gridCol>
                <a:gridCol w="3907117">
                  <a:extLst>
                    <a:ext uri="{9D8B030D-6E8A-4147-A177-3AD203B41FA5}">
                      <a16:colId xmlns:a16="http://schemas.microsoft.com/office/drawing/2014/main" val="391141037"/>
                    </a:ext>
                  </a:extLst>
                </a:gridCol>
              </a:tblGrid>
              <a:tr h="371430">
                <a:tc>
                  <a:txBody>
                    <a:bodyPr/>
                    <a:lstStyle/>
                    <a:p>
                      <a:pPr algn="l" fontAlgn="t">
                        <a:buNone/>
                      </a:pPr>
                      <a:r>
                        <a:rPr lang="zh-CN" sz="1600" b="1">
                          <a:solidFill>
                            <a:srgbClr val="FFFFFF"/>
                          </a:solidFill>
                          <a:effectLst/>
                        </a:rPr>
                        <a:t>指标</a:t>
                      </a:r>
                    </a:p>
                  </a:txBody>
                  <a:tcPr marL="76200" marR="76200" marT="76200" marB="762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76453B"/>
                    </a:solidFill>
                  </a:tcPr>
                </a:tc>
                <a:tc>
                  <a:txBody>
                    <a:bodyPr/>
                    <a:lstStyle/>
                    <a:p>
                      <a:pPr algn="l" fontAlgn="t">
                        <a:buNone/>
                      </a:pPr>
                      <a:r>
                        <a:rPr lang="zh-CN" sz="1600" b="1" dirty="0">
                          <a:solidFill>
                            <a:srgbClr val="FFFFFF"/>
                          </a:solidFill>
                          <a:effectLst/>
                        </a:rPr>
                        <a:t>含义</a:t>
                      </a:r>
                    </a:p>
                  </a:txBody>
                  <a:tcPr marL="76200" marR="76200" marT="76200" marB="762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76453B"/>
                    </a:solidFill>
                  </a:tcPr>
                </a:tc>
                <a:extLst>
                  <a:ext uri="{0D108BD9-81ED-4DB2-BD59-A6C34878D82A}">
                    <a16:rowId xmlns:a16="http://schemas.microsoft.com/office/drawing/2014/main" val="577693237"/>
                  </a:ext>
                </a:extLst>
              </a:tr>
              <a:tr h="371430">
                <a:tc>
                  <a:txBody>
                    <a:bodyPr/>
                    <a:lstStyle/>
                    <a:p>
                      <a:pPr algn="l" fontAlgn="t">
                        <a:buNone/>
                      </a:pPr>
                      <a:r>
                        <a:rPr lang="zh-CN" sz="1600">
                          <a:solidFill>
                            <a:srgbClr val="000000"/>
                          </a:solidFill>
                          <a:effectLst/>
                        </a:rPr>
                        <a:t>MAE ↓</a:t>
                      </a:r>
                    </a:p>
                  </a:txBody>
                  <a:tcPr marL="76200" marR="76200" marT="76200" marB="762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tc>
                  <a:txBody>
                    <a:bodyPr/>
                    <a:lstStyle/>
                    <a:p>
                      <a:pPr algn="l" fontAlgn="t">
                        <a:buNone/>
                      </a:pPr>
                      <a:r>
                        <a:rPr lang="zh-CN" sz="1600">
                          <a:solidFill>
                            <a:srgbClr val="000000"/>
                          </a:solidFill>
                          <a:effectLst/>
                        </a:rPr>
                        <a:t>像素级平均绝对误差，越小越好</a:t>
                      </a:r>
                    </a:p>
                  </a:txBody>
                  <a:tcPr marL="76200" marR="76200" marT="76200" marB="762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extLst>
                  <a:ext uri="{0D108BD9-81ED-4DB2-BD59-A6C34878D82A}">
                    <a16:rowId xmlns:a16="http://schemas.microsoft.com/office/drawing/2014/main" val="3547200260"/>
                  </a:ext>
                </a:extLst>
              </a:tr>
              <a:tr h="541939">
                <a:tc>
                  <a:txBody>
                    <a:bodyPr/>
                    <a:lstStyle/>
                    <a:p>
                      <a:pPr algn="l" fontAlgn="t">
                        <a:buNone/>
                      </a:pPr>
                      <a:r>
                        <a:rPr lang="zh-CN" sz="1600">
                          <a:solidFill>
                            <a:srgbClr val="000000"/>
                          </a:solidFill>
                          <a:effectLst/>
                        </a:rPr>
                        <a:t>Max-F / Mean-F</a:t>
                      </a:r>
                    </a:p>
                  </a:txBody>
                  <a:tcPr marL="76200" marR="76200" marT="76200" marB="762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tc>
                  <a:txBody>
                    <a:bodyPr/>
                    <a:lstStyle/>
                    <a:p>
                      <a:pPr algn="l" fontAlgn="t">
                        <a:buNone/>
                      </a:pPr>
                      <a:r>
                        <a:rPr lang="zh-CN" sz="1600">
                          <a:solidFill>
                            <a:srgbClr val="000000"/>
                          </a:solidFill>
                          <a:effectLst/>
                        </a:rPr>
                        <a:t>最大 / 均值 F-measure</a:t>
                      </a:r>
                    </a:p>
                  </a:txBody>
                  <a:tcPr marL="76200" marR="76200" marT="76200" marB="762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extLst>
                  <a:ext uri="{0D108BD9-81ED-4DB2-BD59-A6C34878D82A}">
                    <a16:rowId xmlns:a16="http://schemas.microsoft.com/office/drawing/2014/main" val="2496642564"/>
                  </a:ext>
                </a:extLst>
              </a:tr>
              <a:tr h="371430">
                <a:tc>
                  <a:txBody>
                    <a:bodyPr/>
                    <a:lstStyle/>
                    <a:p>
                      <a:pPr algn="l" fontAlgn="t">
                        <a:buNone/>
                      </a:pPr>
                      <a:r>
                        <a:rPr lang="zh-CN" sz="1600">
                          <a:solidFill>
                            <a:srgbClr val="000000"/>
                          </a:solidFill>
                          <a:effectLst/>
                        </a:rPr>
                        <a:t>Weighted-F</a:t>
                      </a:r>
                    </a:p>
                  </a:txBody>
                  <a:tcPr marL="76200" marR="76200" marT="76200" marB="762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tc>
                  <a:txBody>
                    <a:bodyPr/>
                    <a:lstStyle/>
                    <a:p>
                      <a:pPr algn="l" fontAlgn="t">
                        <a:buNone/>
                      </a:pPr>
                      <a:r>
                        <a:rPr lang="zh-CN" sz="1600" dirty="0">
                          <a:solidFill>
                            <a:srgbClr val="000000"/>
                          </a:solidFill>
                          <a:effectLst/>
                        </a:rPr>
                        <a:t>加权 F-measure，对边界更敏感</a:t>
                      </a:r>
                    </a:p>
                  </a:txBody>
                  <a:tcPr marL="76200" marR="76200" marT="76200" marB="762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extLst>
                  <a:ext uri="{0D108BD9-81ED-4DB2-BD59-A6C34878D82A}">
                    <a16:rowId xmlns:a16="http://schemas.microsoft.com/office/drawing/2014/main" val="2967858862"/>
                  </a:ext>
                </a:extLst>
              </a:tr>
              <a:tr h="541939">
                <a:tc>
                  <a:txBody>
                    <a:bodyPr/>
                    <a:lstStyle/>
                    <a:p>
                      <a:pPr algn="l" fontAlgn="t">
                        <a:buNone/>
                      </a:pPr>
                      <a:r>
                        <a:rPr lang="zh-CN" sz="1600">
                          <a:solidFill>
                            <a:srgbClr val="000000"/>
                          </a:solidFill>
                          <a:effectLst/>
                        </a:rPr>
                        <a:t>Max-E / Mean-E</a:t>
                      </a:r>
                    </a:p>
                  </a:txBody>
                  <a:tcPr marL="76200" marR="76200" marT="76200" marB="762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tc>
                  <a:txBody>
                    <a:bodyPr/>
                    <a:lstStyle/>
                    <a:p>
                      <a:pPr algn="l" fontAlgn="t">
                        <a:buNone/>
                      </a:pPr>
                      <a:r>
                        <a:rPr lang="zh-CN" sz="1600">
                          <a:solidFill>
                            <a:srgbClr val="000000"/>
                          </a:solidFill>
                          <a:effectLst/>
                        </a:rPr>
                        <a:t>E-measure，结合像素级与图像级精度</a:t>
                      </a:r>
                    </a:p>
                  </a:txBody>
                  <a:tcPr marL="76200" marR="76200" marT="76200" marB="762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extLst>
                  <a:ext uri="{0D108BD9-81ED-4DB2-BD59-A6C34878D82A}">
                    <a16:rowId xmlns:a16="http://schemas.microsoft.com/office/drawing/2014/main" val="724984073"/>
                  </a:ext>
                </a:extLst>
              </a:tr>
              <a:tr h="371430">
                <a:tc>
                  <a:txBody>
                    <a:bodyPr/>
                    <a:lstStyle/>
                    <a:p>
                      <a:pPr algn="l" fontAlgn="t">
                        <a:buNone/>
                      </a:pPr>
                      <a:r>
                        <a:rPr lang="zh-CN" sz="1600">
                          <a:solidFill>
                            <a:srgbClr val="000000"/>
                          </a:solidFill>
                          <a:effectLst/>
                        </a:rPr>
                        <a:t>S-measure</a:t>
                      </a:r>
                    </a:p>
                  </a:txBody>
                  <a:tcPr marL="76200" marR="76200" marT="76200" marB="762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EAD8C0"/>
                    </a:solidFill>
                  </a:tcPr>
                </a:tc>
                <a:tc>
                  <a:txBody>
                    <a:bodyPr/>
                    <a:lstStyle/>
                    <a:p>
                      <a:pPr algn="l" fontAlgn="t">
                        <a:buNone/>
                      </a:pPr>
                      <a:r>
                        <a:rPr lang="zh-CN" sz="1600" dirty="0">
                          <a:solidFill>
                            <a:srgbClr val="000000"/>
                          </a:solidFill>
                          <a:effectLst/>
                        </a:rPr>
                        <a:t>结构相似性度量</a:t>
                      </a:r>
                    </a:p>
                  </a:txBody>
                  <a:tcPr marL="76200" marR="76200" marT="76200" marB="762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EAD8C0"/>
                    </a:solidFill>
                  </a:tcPr>
                </a:tc>
                <a:extLst>
                  <a:ext uri="{0D108BD9-81ED-4DB2-BD59-A6C34878D82A}">
                    <a16:rowId xmlns:a16="http://schemas.microsoft.com/office/drawing/2014/main" val="3898476657"/>
                  </a:ext>
                </a:extLst>
              </a:tr>
            </a:tbl>
          </a:graphicData>
        </a:graphic>
      </p:graphicFrame>
      <p:graphicFrame>
        <p:nvGraphicFramePr>
          <p:cNvPr id="6" name="内容占位符 3">
            <a:extLst>
              <a:ext uri="{FF2B5EF4-FFF2-40B4-BE49-F238E27FC236}">
                <a16:creationId xmlns:a16="http://schemas.microsoft.com/office/drawing/2014/main" id="{D351F2AD-6EA4-5A78-E948-63D7D5B6AAE4}"/>
              </a:ext>
            </a:extLst>
          </p:cNvPr>
          <p:cNvGraphicFramePr>
            <a:graphicFrameLocks/>
          </p:cNvGraphicFramePr>
          <p:nvPr>
            <p:extLst>
              <p:ext uri="{D42A27DB-BD31-4B8C-83A1-F6EECF244321}">
                <p14:modId xmlns:p14="http://schemas.microsoft.com/office/powerpoint/2010/main" val="740689177"/>
              </p:ext>
            </p:extLst>
          </p:nvPr>
        </p:nvGraphicFramePr>
        <p:xfrm>
          <a:off x="6357256" y="3994486"/>
          <a:ext cx="5693229" cy="2569599"/>
        </p:xfrm>
        <a:graphic>
          <a:graphicData uri="http://schemas.openxmlformats.org/drawingml/2006/table">
            <a:tbl>
              <a:tblPr/>
              <a:tblGrid>
                <a:gridCol w="995423">
                  <a:extLst>
                    <a:ext uri="{9D8B030D-6E8A-4147-A177-3AD203B41FA5}">
                      <a16:colId xmlns:a16="http://schemas.microsoft.com/office/drawing/2014/main" val="3614361967"/>
                    </a:ext>
                  </a:extLst>
                </a:gridCol>
                <a:gridCol w="723946">
                  <a:extLst>
                    <a:ext uri="{9D8B030D-6E8A-4147-A177-3AD203B41FA5}">
                      <a16:colId xmlns:a16="http://schemas.microsoft.com/office/drawing/2014/main" val="1600529078"/>
                    </a:ext>
                  </a:extLst>
                </a:gridCol>
                <a:gridCol w="1085918">
                  <a:extLst>
                    <a:ext uri="{9D8B030D-6E8A-4147-A177-3AD203B41FA5}">
                      <a16:colId xmlns:a16="http://schemas.microsoft.com/office/drawing/2014/main" val="3685031126"/>
                    </a:ext>
                  </a:extLst>
                </a:gridCol>
                <a:gridCol w="1719371">
                  <a:extLst>
                    <a:ext uri="{9D8B030D-6E8A-4147-A177-3AD203B41FA5}">
                      <a16:colId xmlns:a16="http://schemas.microsoft.com/office/drawing/2014/main" val="2101753803"/>
                    </a:ext>
                  </a:extLst>
                </a:gridCol>
                <a:gridCol w="1168571">
                  <a:extLst>
                    <a:ext uri="{9D8B030D-6E8A-4147-A177-3AD203B41FA5}">
                      <a16:colId xmlns:a16="http://schemas.microsoft.com/office/drawing/2014/main" val="4156376925"/>
                    </a:ext>
                  </a:extLst>
                </a:gridCol>
              </a:tblGrid>
              <a:tr h="507976">
                <a:tc>
                  <a:txBody>
                    <a:bodyPr/>
                    <a:lstStyle/>
                    <a:p>
                      <a:pPr algn="l" fontAlgn="t">
                        <a:buNone/>
                      </a:pPr>
                      <a:r>
                        <a:rPr lang="zh-CN" sz="1600" b="1">
                          <a:solidFill>
                            <a:srgbClr val="FFFFFF"/>
                          </a:solidFill>
                          <a:effectLst/>
                        </a:rPr>
                        <a:t>数据集</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76453B"/>
                    </a:solidFill>
                  </a:tcPr>
                </a:tc>
                <a:tc>
                  <a:txBody>
                    <a:bodyPr/>
                    <a:lstStyle/>
                    <a:p>
                      <a:pPr algn="l" fontAlgn="t">
                        <a:buNone/>
                      </a:pPr>
                      <a:r>
                        <a:rPr lang="zh-CN" sz="1600" b="1" dirty="0">
                          <a:solidFill>
                            <a:srgbClr val="FFFFFF"/>
                          </a:solidFill>
                          <a:effectLst/>
                        </a:rPr>
                        <a:t>图像数</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76453B"/>
                    </a:solidFill>
                  </a:tcPr>
                </a:tc>
                <a:tc>
                  <a:txBody>
                    <a:bodyPr/>
                    <a:lstStyle/>
                    <a:p>
                      <a:pPr algn="l" fontAlgn="t">
                        <a:buNone/>
                      </a:pPr>
                      <a:r>
                        <a:rPr lang="zh-CN" sz="1600" b="1">
                          <a:solidFill>
                            <a:srgbClr val="FFFFFF"/>
                          </a:solidFill>
                          <a:effectLst/>
                        </a:rPr>
                        <a:t>分辨率范围</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76453B"/>
                    </a:solidFill>
                  </a:tcPr>
                </a:tc>
                <a:tc>
                  <a:txBody>
                    <a:bodyPr/>
                    <a:lstStyle/>
                    <a:p>
                      <a:pPr algn="l" fontAlgn="t">
                        <a:buNone/>
                      </a:pPr>
                      <a:r>
                        <a:rPr lang="zh-CN" sz="1600" b="1" dirty="0">
                          <a:solidFill>
                            <a:srgbClr val="FFFFFF"/>
                          </a:solidFill>
                          <a:effectLst/>
                        </a:rPr>
                        <a:t>特点</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76453B"/>
                    </a:solidFill>
                  </a:tcPr>
                </a:tc>
                <a:tc>
                  <a:txBody>
                    <a:bodyPr/>
                    <a:lstStyle/>
                    <a:p>
                      <a:pPr algn="l" fontAlgn="t">
                        <a:buNone/>
                      </a:pPr>
                      <a:r>
                        <a:rPr lang="zh-CN" sz="1600" b="1">
                          <a:solidFill>
                            <a:srgbClr val="FFFFFF"/>
                          </a:solidFill>
                          <a:effectLst/>
                        </a:rPr>
                        <a:t>用途</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76453B"/>
                    </a:solidFill>
                  </a:tcPr>
                </a:tc>
                <a:extLst>
                  <a:ext uri="{0D108BD9-81ED-4DB2-BD59-A6C34878D82A}">
                    <a16:rowId xmlns:a16="http://schemas.microsoft.com/office/drawing/2014/main" val="2592997825"/>
                  </a:ext>
                </a:extLst>
              </a:tr>
              <a:tr h="522675">
                <a:tc>
                  <a:txBody>
                    <a:bodyPr/>
                    <a:lstStyle/>
                    <a:p>
                      <a:pPr algn="l" fontAlgn="t">
                        <a:buNone/>
                      </a:pPr>
                      <a:r>
                        <a:rPr lang="zh-CN" sz="1600">
                          <a:solidFill>
                            <a:srgbClr val="000000"/>
                          </a:solidFill>
                          <a:effectLst/>
                        </a:rPr>
                        <a:t>ECSSD</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tc>
                  <a:txBody>
                    <a:bodyPr/>
                    <a:lstStyle/>
                    <a:p>
                      <a:pPr algn="l" fontAlgn="t">
                        <a:buNone/>
                      </a:pPr>
                      <a:r>
                        <a:rPr lang="zh-CN" sz="1600">
                          <a:solidFill>
                            <a:srgbClr val="000000"/>
                          </a:solidFill>
                          <a:effectLst/>
                        </a:rPr>
                        <a:t>1,000</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tc>
                  <a:txBody>
                    <a:bodyPr/>
                    <a:lstStyle/>
                    <a:p>
                      <a:pPr algn="l" fontAlgn="t">
                        <a:buNone/>
                      </a:pPr>
                      <a:r>
                        <a:rPr lang="zh-CN" sz="1600">
                          <a:solidFill>
                            <a:srgbClr val="000000"/>
                          </a:solidFill>
                          <a:effectLst/>
                        </a:rPr>
                        <a:t>~400×300</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tc>
                  <a:txBody>
                    <a:bodyPr/>
                    <a:lstStyle/>
                    <a:p>
                      <a:pPr algn="l" fontAlgn="t">
                        <a:buNone/>
                      </a:pPr>
                      <a:r>
                        <a:rPr lang="zh-CN" sz="1600" dirty="0">
                          <a:solidFill>
                            <a:srgbClr val="000000"/>
                          </a:solidFill>
                          <a:effectLst/>
                        </a:rPr>
                        <a:t>语义复杂、前景清晰</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tc>
                  <a:txBody>
                    <a:bodyPr/>
                    <a:lstStyle/>
                    <a:p>
                      <a:pPr algn="l" fontAlgn="t">
                        <a:buNone/>
                      </a:pPr>
                      <a:r>
                        <a:rPr lang="zh-CN" sz="1600">
                          <a:solidFill>
                            <a:srgbClr val="000000"/>
                          </a:solidFill>
                          <a:effectLst/>
                        </a:rPr>
                        <a:t>训练 + 测试</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extLst>
                  <a:ext uri="{0D108BD9-81ED-4DB2-BD59-A6C34878D82A}">
                    <a16:rowId xmlns:a16="http://schemas.microsoft.com/office/drawing/2014/main" val="3891649337"/>
                  </a:ext>
                </a:extLst>
              </a:tr>
              <a:tr h="725559">
                <a:tc>
                  <a:txBody>
                    <a:bodyPr/>
                    <a:lstStyle/>
                    <a:p>
                      <a:pPr algn="l" fontAlgn="t">
                        <a:buNone/>
                      </a:pPr>
                      <a:r>
                        <a:rPr lang="zh-CN" sz="1600">
                          <a:solidFill>
                            <a:srgbClr val="000000"/>
                          </a:solidFill>
                          <a:effectLst/>
                        </a:rPr>
                        <a:t>DUT-OMRON</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tc>
                  <a:txBody>
                    <a:bodyPr/>
                    <a:lstStyle/>
                    <a:p>
                      <a:pPr algn="l" fontAlgn="t">
                        <a:buNone/>
                      </a:pPr>
                      <a:r>
                        <a:rPr lang="zh-CN" sz="1600">
                          <a:solidFill>
                            <a:srgbClr val="000000"/>
                          </a:solidFill>
                          <a:effectLst/>
                        </a:rPr>
                        <a:t>5,168</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tc>
                  <a:txBody>
                    <a:bodyPr/>
                    <a:lstStyle/>
                    <a:p>
                      <a:pPr algn="l" fontAlgn="t">
                        <a:buNone/>
                      </a:pPr>
                      <a:r>
                        <a:rPr lang="zh-CN" sz="1600">
                          <a:solidFill>
                            <a:srgbClr val="000000"/>
                          </a:solidFill>
                          <a:effectLst/>
                        </a:rPr>
                        <a:t>~400×400</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tc>
                  <a:txBody>
                    <a:bodyPr/>
                    <a:lstStyle/>
                    <a:p>
                      <a:pPr algn="l" fontAlgn="t">
                        <a:buNone/>
                      </a:pPr>
                      <a:r>
                        <a:rPr lang="zh-CN" sz="1600">
                          <a:solidFill>
                            <a:srgbClr val="000000"/>
                          </a:solidFill>
                          <a:effectLst/>
                        </a:rPr>
                        <a:t>背景杂乱、多目标</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tc>
                  <a:txBody>
                    <a:bodyPr/>
                    <a:lstStyle/>
                    <a:p>
                      <a:pPr algn="l" fontAlgn="t">
                        <a:buNone/>
                      </a:pPr>
                      <a:r>
                        <a:rPr lang="zh-CN" sz="1600">
                          <a:solidFill>
                            <a:srgbClr val="000000"/>
                          </a:solidFill>
                          <a:effectLst/>
                        </a:rPr>
                        <a:t>测试</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FFFFFF"/>
                    </a:solidFill>
                  </a:tcPr>
                </a:tc>
                <a:extLst>
                  <a:ext uri="{0D108BD9-81ED-4DB2-BD59-A6C34878D82A}">
                    <a16:rowId xmlns:a16="http://schemas.microsoft.com/office/drawing/2014/main" val="3473166165"/>
                  </a:ext>
                </a:extLst>
              </a:tr>
              <a:tr h="513200">
                <a:tc>
                  <a:txBody>
                    <a:bodyPr/>
                    <a:lstStyle/>
                    <a:p>
                      <a:pPr algn="l" fontAlgn="t">
                        <a:buNone/>
                      </a:pPr>
                      <a:r>
                        <a:rPr lang="zh-CN" sz="1600">
                          <a:solidFill>
                            <a:srgbClr val="000000"/>
                          </a:solidFill>
                          <a:effectLst/>
                        </a:rPr>
                        <a:t>DUTS-TE</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EAD8C0"/>
                    </a:solidFill>
                  </a:tcPr>
                </a:tc>
                <a:tc>
                  <a:txBody>
                    <a:bodyPr/>
                    <a:lstStyle/>
                    <a:p>
                      <a:pPr algn="l" fontAlgn="t">
                        <a:buNone/>
                      </a:pPr>
                      <a:r>
                        <a:rPr lang="zh-CN" sz="1600">
                          <a:solidFill>
                            <a:srgbClr val="000000"/>
                          </a:solidFill>
                          <a:effectLst/>
                        </a:rPr>
                        <a:t>5,019</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EAD8C0"/>
                    </a:solidFill>
                  </a:tcPr>
                </a:tc>
                <a:tc>
                  <a:txBody>
                    <a:bodyPr/>
                    <a:lstStyle/>
                    <a:p>
                      <a:pPr algn="l" fontAlgn="t">
                        <a:buNone/>
                      </a:pPr>
                      <a:r>
                        <a:rPr lang="zh-CN" sz="1600">
                          <a:solidFill>
                            <a:srgbClr val="000000"/>
                          </a:solidFill>
                          <a:effectLst/>
                        </a:rPr>
                        <a:t>多样</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EAD8C0"/>
                    </a:solidFill>
                  </a:tcPr>
                </a:tc>
                <a:tc>
                  <a:txBody>
                    <a:bodyPr/>
                    <a:lstStyle/>
                    <a:p>
                      <a:pPr algn="l" fontAlgn="t">
                        <a:buNone/>
                      </a:pPr>
                      <a:r>
                        <a:rPr lang="zh-CN" sz="1600">
                          <a:solidFill>
                            <a:srgbClr val="000000"/>
                          </a:solidFill>
                          <a:effectLst/>
                        </a:rPr>
                        <a:t>最常用标准测试集</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EAD8C0"/>
                    </a:solidFill>
                  </a:tcPr>
                </a:tc>
                <a:tc>
                  <a:txBody>
                    <a:bodyPr/>
                    <a:lstStyle/>
                    <a:p>
                      <a:pPr algn="l" fontAlgn="t">
                        <a:buNone/>
                      </a:pPr>
                      <a:r>
                        <a:rPr lang="zh-CN" sz="1600" dirty="0">
                          <a:solidFill>
                            <a:srgbClr val="000000"/>
                          </a:solidFill>
                          <a:effectLst/>
                        </a:rPr>
                        <a:t>测试</a:t>
                      </a:r>
                    </a:p>
                  </a:txBody>
                  <a:tcPr marL="63500" marR="63500" marT="63500" marB="63500">
                    <a:lnL>
                      <a:solidFill>
                        <a:srgbClr val="76453B"/>
                      </a:solidFill>
                      <a:prstDash val="solid"/>
                    </a:lnL>
                    <a:lnR>
                      <a:solidFill>
                        <a:srgbClr val="76453B"/>
                      </a:solidFill>
                      <a:prstDash val="solid"/>
                    </a:lnR>
                    <a:lnT>
                      <a:solidFill>
                        <a:srgbClr val="76453B"/>
                      </a:solidFill>
                      <a:prstDash val="solid"/>
                    </a:lnT>
                    <a:lnB>
                      <a:solidFill>
                        <a:srgbClr val="76453B"/>
                      </a:solidFill>
                      <a:prstDash val="solid"/>
                    </a:lnB>
                    <a:solidFill>
                      <a:srgbClr val="EAD8C0"/>
                    </a:solidFill>
                  </a:tcPr>
                </a:tc>
                <a:extLst>
                  <a:ext uri="{0D108BD9-81ED-4DB2-BD59-A6C34878D82A}">
                    <a16:rowId xmlns:a16="http://schemas.microsoft.com/office/drawing/2014/main" val="1101908206"/>
                  </a:ext>
                </a:extLst>
              </a:tr>
            </a:tbl>
          </a:graphicData>
        </a:graphic>
      </p:graphicFrame>
    </p:spTree>
    <p:extLst>
      <p:ext uri="{BB962C8B-B14F-4D97-AF65-F5344CB8AC3E}">
        <p14:creationId xmlns:p14="http://schemas.microsoft.com/office/powerpoint/2010/main" val="524238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006D4E-10B7-93B6-EF92-95D3ACD098D3}"/>
              </a:ext>
            </a:extLst>
          </p:cNvPr>
          <p:cNvSpPr>
            <a:spLocks noGrp="1"/>
          </p:cNvSpPr>
          <p:nvPr>
            <p:ph type="title"/>
          </p:nvPr>
        </p:nvSpPr>
        <p:spPr/>
        <p:txBody>
          <a:bodyPr/>
          <a:lstStyle/>
          <a:p>
            <a:r>
              <a:rPr lang="zh-CN" altLang="zh-CN" b="1" dirty="0"/>
              <a:t>Baseline 1：PoolNet</a:t>
            </a:r>
            <a:endParaRPr lang="zh-CN" altLang="en-US" dirty="0"/>
          </a:p>
        </p:txBody>
      </p:sp>
      <p:pic>
        <p:nvPicPr>
          <p:cNvPr id="5" name="内容占位符 4">
            <a:extLst>
              <a:ext uri="{FF2B5EF4-FFF2-40B4-BE49-F238E27FC236}">
                <a16:creationId xmlns:a16="http://schemas.microsoft.com/office/drawing/2014/main" id="{592A97F5-240B-7636-6415-37AE2DA64AD5}"/>
              </a:ext>
            </a:extLst>
          </p:cNvPr>
          <p:cNvPicPr>
            <a:picLocks noGrp="1" noChangeAspect="1"/>
          </p:cNvPicPr>
          <p:nvPr>
            <p:ph idx="1"/>
          </p:nvPr>
        </p:nvPicPr>
        <p:blipFill>
          <a:blip r:embed="rId2"/>
          <a:stretch>
            <a:fillRect/>
          </a:stretch>
        </p:blipFill>
        <p:spPr>
          <a:xfrm>
            <a:off x="838200" y="2026798"/>
            <a:ext cx="10515600" cy="3948991"/>
          </a:xfrm>
          <a:prstGeom prst="rect">
            <a:avLst/>
          </a:prstGeom>
        </p:spPr>
      </p:pic>
    </p:spTree>
    <p:extLst>
      <p:ext uri="{BB962C8B-B14F-4D97-AF65-F5344CB8AC3E}">
        <p14:creationId xmlns:p14="http://schemas.microsoft.com/office/powerpoint/2010/main" val="589121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9866DE-BC31-E65A-C54E-BA3B73918599}"/>
              </a:ext>
            </a:extLst>
          </p:cNvPr>
          <p:cNvSpPr>
            <a:spLocks noGrp="1"/>
          </p:cNvSpPr>
          <p:nvPr>
            <p:ph type="title"/>
          </p:nvPr>
        </p:nvSpPr>
        <p:spPr/>
        <p:txBody>
          <a:bodyPr/>
          <a:lstStyle/>
          <a:p>
            <a:r>
              <a:rPr lang="zh-CN" altLang="zh-CN" b="1" dirty="0"/>
              <a:t>Baseline 2：F3Net</a:t>
            </a:r>
            <a:endParaRPr lang="zh-CN" altLang="en-US" dirty="0"/>
          </a:p>
        </p:txBody>
      </p:sp>
      <p:pic>
        <p:nvPicPr>
          <p:cNvPr id="3074" name="Picture 2" descr="F3net 商汤Deepfake检测模型-CSDN博客">
            <a:extLst>
              <a:ext uri="{FF2B5EF4-FFF2-40B4-BE49-F238E27FC236}">
                <a16:creationId xmlns:a16="http://schemas.microsoft.com/office/drawing/2014/main" id="{DBEB3A88-4BB6-B39A-7F71-DBA2BC17AF5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72214" y="1825625"/>
            <a:ext cx="8447572"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4318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21669D-285E-0378-2ABA-768B6F167294}"/>
              </a:ext>
            </a:extLst>
          </p:cNvPr>
          <p:cNvSpPr>
            <a:spLocks noGrp="1"/>
          </p:cNvSpPr>
          <p:nvPr>
            <p:ph type="title"/>
          </p:nvPr>
        </p:nvSpPr>
        <p:spPr/>
        <p:txBody>
          <a:bodyPr/>
          <a:lstStyle/>
          <a:p>
            <a:r>
              <a:rPr lang="zh-CN" altLang="zh-CN" b="1" dirty="0"/>
              <a:t>Baseline 3：CPDResNet</a:t>
            </a:r>
            <a:endParaRPr lang="zh-CN" altLang="en-US" dirty="0"/>
          </a:p>
        </p:txBody>
      </p:sp>
      <p:pic>
        <p:nvPicPr>
          <p:cNvPr id="5" name="内容占位符 4">
            <a:extLst>
              <a:ext uri="{FF2B5EF4-FFF2-40B4-BE49-F238E27FC236}">
                <a16:creationId xmlns:a16="http://schemas.microsoft.com/office/drawing/2014/main" id="{C2EFC3D6-2091-010D-E1F0-B8A300366FBD}"/>
              </a:ext>
            </a:extLst>
          </p:cNvPr>
          <p:cNvPicPr>
            <a:picLocks noGrp="1" noChangeAspect="1"/>
          </p:cNvPicPr>
          <p:nvPr>
            <p:ph idx="1"/>
          </p:nvPr>
        </p:nvPicPr>
        <p:blipFill>
          <a:blip r:embed="rId2"/>
          <a:stretch>
            <a:fillRect/>
          </a:stretch>
        </p:blipFill>
        <p:spPr>
          <a:xfrm>
            <a:off x="838200" y="2281528"/>
            <a:ext cx="10515600" cy="3439532"/>
          </a:xfrm>
          <a:prstGeom prst="rect">
            <a:avLst/>
          </a:prstGeom>
        </p:spPr>
      </p:pic>
    </p:spTree>
    <p:extLst>
      <p:ext uri="{BB962C8B-B14F-4D97-AF65-F5344CB8AC3E}">
        <p14:creationId xmlns:p14="http://schemas.microsoft.com/office/powerpoint/2010/main" val="4278002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8C5C9-12DA-14C8-2870-215DE4A904F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175B3BE-DD59-2D59-3431-266C476024F0}"/>
              </a:ext>
            </a:extLst>
          </p:cNvPr>
          <p:cNvSpPr>
            <a:spLocks noGrp="1"/>
          </p:cNvSpPr>
          <p:nvPr>
            <p:ph type="title"/>
          </p:nvPr>
        </p:nvSpPr>
        <p:spPr/>
        <p:txBody>
          <a:bodyPr/>
          <a:lstStyle/>
          <a:p>
            <a:r>
              <a:rPr lang="zh-CN" altLang="zh-CN" b="1" dirty="0"/>
              <a:t>Baseline 4：GateNet</a:t>
            </a:r>
            <a:r>
              <a:rPr lang="zh-CN" altLang="en-US" b="1" dirty="0"/>
              <a:t>（</a:t>
            </a:r>
            <a:r>
              <a:rPr lang="zh-CN" altLang="zh-CN" b="1" dirty="0"/>
              <a:t>FoldConvASPP</a:t>
            </a:r>
            <a:r>
              <a:rPr lang="zh-CN" altLang="en-US" b="1" dirty="0"/>
              <a:t>）</a:t>
            </a:r>
          </a:p>
        </p:txBody>
      </p:sp>
      <p:sp>
        <p:nvSpPr>
          <p:cNvPr id="4" name="内容占位符 3">
            <a:extLst>
              <a:ext uri="{FF2B5EF4-FFF2-40B4-BE49-F238E27FC236}">
                <a16:creationId xmlns:a16="http://schemas.microsoft.com/office/drawing/2014/main" id="{69D58175-F987-4D7F-EC4F-B911D6EA1FB3}"/>
              </a:ext>
            </a:extLst>
          </p:cNvPr>
          <p:cNvSpPr>
            <a:spLocks noGrp="1"/>
          </p:cNvSpPr>
          <p:nvPr>
            <p:ph idx="1"/>
          </p:nvPr>
        </p:nvSpPr>
        <p:spPr/>
        <p:txBody>
          <a:bodyPr/>
          <a:lstStyle/>
          <a:p>
            <a:endParaRPr lang="zh-CN" altLang="en-US"/>
          </a:p>
        </p:txBody>
      </p:sp>
      <p:pic>
        <p:nvPicPr>
          <p:cNvPr id="7" name="图片 6">
            <a:extLst>
              <a:ext uri="{FF2B5EF4-FFF2-40B4-BE49-F238E27FC236}">
                <a16:creationId xmlns:a16="http://schemas.microsoft.com/office/drawing/2014/main" id="{BDC094D8-6342-AE07-F9F9-C62255EFD513}"/>
              </a:ext>
            </a:extLst>
          </p:cNvPr>
          <p:cNvPicPr>
            <a:picLocks noChangeAspect="1"/>
          </p:cNvPicPr>
          <p:nvPr/>
        </p:nvPicPr>
        <p:blipFill>
          <a:blip r:embed="rId2"/>
          <a:stretch>
            <a:fillRect/>
          </a:stretch>
        </p:blipFill>
        <p:spPr>
          <a:xfrm>
            <a:off x="2009775" y="1690688"/>
            <a:ext cx="7569654" cy="4681442"/>
          </a:xfrm>
          <a:prstGeom prst="rect">
            <a:avLst/>
          </a:prstGeom>
        </p:spPr>
      </p:pic>
    </p:spTree>
    <p:extLst>
      <p:ext uri="{BB962C8B-B14F-4D97-AF65-F5344CB8AC3E}">
        <p14:creationId xmlns:p14="http://schemas.microsoft.com/office/powerpoint/2010/main" val="562082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00E0CA-81D0-CE8C-C079-47DE098C1622}"/>
              </a:ext>
            </a:extLst>
          </p:cNvPr>
          <p:cNvSpPr>
            <a:spLocks noGrp="1"/>
          </p:cNvSpPr>
          <p:nvPr>
            <p:ph type="title"/>
          </p:nvPr>
        </p:nvSpPr>
        <p:spPr/>
        <p:txBody>
          <a:bodyPr/>
          <a:lstStyle/>
          <a:p>
            <a:r>
              <a:rPr lang="zh-CN" altLang="zh-CN" b="1" dirty="0"/>
              <a:t>Baseline 4：GateNet</a:t>
            </a:r>
            <a:endParaRPr lang="zh-CN" altLang="en-US" dirty="0"/>
          </a:p>
        </p:txBody>
      </p:sp>
      <p:pic>
        <p:nvPicPr>
          <p:cNvPr id="5" name="内容占位符 4">
            <a:extLst>
              <a:ext uri="{FF2B5EF4-FFF2-40B4-BE49-F238E27FC236}">
                <a16:creationId xmlns:a16="http://schemas.microsoft.com/office/drawing/2014/main" id="{9645234E-2D7B-0183-2162-078BFEC17889}"/>
              </a:ext>
            </a:extLst>
          </p:cNvPr>
          <p:cNvPicPr>
            <a:picLocks noGrp="1" noChangeAspect="1"/>
          </p:cNvPicPr>
          <p:nvPr>
            <p:ph idx="1"/>
          </p:nvPr>
        </p:nvPicPr>
        <p:blipFill>
          <a:blip r:embed="rId2"/>
          <a:stretch>
            <a:fillRect/>
          </a:stretch>
        </p:blipFill>
        <p:spPr>
          <a:xfrm>
            <a:off x="1275698" y="1553482"/>
            <a:ext cx="9640604" cy="4785695"/>
          </a:xfrm>
          <a:prstGeom prst="rect">
            <a:avLst/>
          </a:prstGeom>
        </p:spPr>
      </p:pic>
    </p:spTree>
    <p:extLst>
      <p:ext uri="{BB962C8B-B14F-4D97-AF65-F5344CB8AC3E}">
        <p14:creationId xmlns:p14="http://schemas.microsoft.com/office/powerpoint/2010/main" val="1227001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922735-934B-1077-2B49-9E21E1757940}"/>
              </a:ext>
            </a:extLst>
          </p:cNvPr>
          <p:cNvSpPr>
            <a:spLocks noGrp="1"/>
          </p:cNvSpPr>
          <p:nvPr>
            <p:ph type="title"/>
          </p:nvPr>
        </p:nvSpPr>
        <p:spPr/>
        <p:txBody>
          <a:bodyPr/>
          <a:lstStyle/>
          <a:p>
            <a:endParaRPr lang="zh-CN" altLang="en-US" dirty="0"/>
          </a:p>
        </p:txBody>
      </p:sp>
      <p:pic>
        <p:nvPicPr>
          <p:cNvPr id="7" name="内容占位符 6">
            <a:extLst>
              <a:ext uri="{FF2B5EF4-FFF2-40B4-BE49-F238E27FC236}">
                <a16:creationId xmlns:a16="http://schemas.microsoft.com/office/drawing/2014/main" id="{8A814056-C616-C02D-91A1-F27B9F3984FC}"/>
              </a:ext>
            </a:extLst>
          </p:cNvPr>
          <p:cNvPicPr>
            <a:picLocks noGrp="1" noChangeAspect="1"/>
          </p:cNvPicPr>
          <p:nvPr>
            <p:ph idx="1"/>
          </p:nvPr>
        </p:nvPicPr>
        <p:blipFill>
          <a:blip r:embed="rId2"/>
          <a:stretch>
            <a:fillRect/>
          </a:stretch>
        </p:blipFill>
        <p:spPr>
          <a:xfrm>
            <a:off x="1338943" y="81969"/>
            <a:ext cx="9046029" cy="6694061"/>
          </a:xfrm>
          <a:prstGeom prst="rect">
            <a:avLst/>
          </a:prstGeom>
        </p:spPr>
      </p:pic>
    </p:spTree>
    <p:extLst>
      <p:ext uri="{BB962C8B-B14F-4D97-AF65-F5344CB8AC3E}">
        <p14:creationId xmlns:p14="http://schemas.microsoft.com/office/powerpoint/2010/main" val="2733062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28CF31-18FD-97D0-6020-2B9B154937B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C1DBC23-ACBF-C64B-F524-C88A9A4AEE30}"/>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99F659E2-0559-A095-8C2B-7FC723033D8F}"/>
              </a:ext>
            </a:extLst>
          </p:cNvPr>
          <p:cNvPicPr>
            <a:picLocks noChangeAspect="1"/>
          </p:cNvPicPr>
          <p:nvPr/>
        </p:nvPicPr>
        <p:blipFill>
          <a:blip r:embed="rId3"/>
          <a:stretch>
            <a:fillRect/>
          </a:stretch>
        </p:blipFill>
        <p:spPr>
          <a:xfrm>
            <a:off x="704850" y="0"/>
            <a:ext cx="10477500" cy="6858000"/>
          </a:xfrm>
          <a:prstGeom prst="rect">
            <a:avLst/>
          </a:prstGeom>
        </p:spPr>
      </p:pic>
    </p:spTree>
    <p:extLst>
      <p:ext uri="{BB962C8B-B14F-4D97-AF65-F5344CB8AC3E}">
        <p14:creationId xmlns:p14="http://schemas.microsoft.com/office/powerpoint/2010/main" val="850202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89CF3A-47B1-DC4F-B02C-A5491A50AA9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7E56E88-169E-2C57-A684-D611863BBBB2}"/>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B594D597-CC24-78F3-5AD5-CF6112D50D47}"/>
              </a:ext>
            </a:extLst>
          </p:cNvPr>
          <p:cNvPicPr>
            <a:picLocks noChangeAspect="1"/>
          </p:cNvPicPr>
          <p:nvPr/>
        </p:nvPicPr>
        <p:blipFill>
          <a:blip r:embed="rId3"/>
          <a:stretch>
            <a:fillRect/>
          </a:stretch>
        </p:blipFill>
        <p:spPr>
          <a:xfrm>
            <a:off x="1646727" y="79737"/>
            <a:ext cx="8746145" cy="6778263"/>
          </a:xfrm>
          <a:prstGeom prst="rect">
            <a:avLst/>
          </a:prstGeom>
        </p:spPr>
      </p:pic>
    </p:spTree>
    <p:extLst>
      <p:ext uri="{BB962C8B-B14F-4D97-AF65-F5344CB8AC3E}">
        <p14:creationId xmlns:p14="http://schemas.microsoft.com/office/powerpoint/2010/main" val="2053416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E0144F-573F-46B6-63C5-5F3A0F34EA11}"/>
              </a:ext>
            </a:extLst>
          </p:cNvPr>
          <p:cNvSpPr>
            <a:spLocks noGrp="1"/>
          </p:cNvSpPr>
          <p:nvPr>
            <p:ph type="title"/>
          </p:nvPr>
        </p:nvSpPr>
        <p:spPr/>
        <p:txBody>
          <a:bodyPr/>
          <a:lstStyle/>
          <a:p>
            <a:endParaRPr lang="zh-CN" altLang="en-US"/>
          </a:p>
        </p:txBody>
      </p:sp>
      <p:pic>
        <p:nvPicPr>
          <p:cNvPr id="5" name="图片 4">
            <a:extLst>
              <a:ext uri="{FF2B5EF4-FFF2-40B4-BE49-F238E27FC236}">
                <a16:creationId xmlns:a16="http://schemas.microsoft.com/office/drawing/2014/main" id="{55E3DBFF-1559-480C-8EB1-8CC552B49D48}"/>
              </a:ext>
            </a:extLst>
          </p:cNvPr>
          <p:cNvPicPr>
            <a:picLocks noChangeAspect="1"/>
          </p:cNvPicPr>
          <p:nvPr/>
        </p:nvPicPr>
        <p:blipFill>
          <a:blip r:embed="rId2"/>
          <a:stretch>
            <a:fillRect/>
          </a:stretch>
        </p:blipFill>
        <p:spPr>
          <a:xfrm>
            <a:off x="1103760" y="903514"/>
            <a:ext cx="9984480" cy="5050971"/>
          </a:xfrm>
          <a:prstGeom prst="rect">
            <a:avLst/>
          </a:prstGeom>
        </p:spPr>
      </p:pic>
    </p:spTree>
    <p:extLst>
      <p:ext uri="{BB962C8B-B14F-4D97-AF65-F5344CB8AC3E}">
        <p14:creationId xmlns:p14="http://schemas.microsoft.com/office/powerpoint/2010/main" val="3983736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B8F191-BF3D-F8FF-0DF7-483FC456087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184C1EB-928A-AC9A-946F-E01550E640B7}"/>
              </a:ext>
            </a:extLst>
          </p:cNvPr>
          <p:cNvSpPr>
            <a:spLocks noGrp="1"/>
          </p:cNvSpPr>
          <p:nvPr>
            <p:ph idx="1"/>
          </p:nvPr>
        </p:nvSpPr>
        <p:spPr/>
        <p:txBody>
          <a:bodyPr/>
          <a:lstStyle/>
          <a:p>
            <a:endParaRPr lang="zh-CN" altLang="en-US"/>
          </a:p>
        </p:txBody>
      </p:sp>
      <p:pic>
        <p:nvPicPr>
          <p:cNvPr id="7" name="图片 6">
            <a:extLst>
              <a:ext uri="{FF2B5EF4-FFF2-40B4-BE49-F238E27FC236}">
                <a16:creationId xmlns:a16="http://schemas.microsoft.com/office/drawing/2014/main" id="{299AFBC0-731D-E3EC-A77E-456133A1A99A}"/>
              </a:ext>
            </a:extLst>
          </p:cNvPr>
          <p:cNvPicPr>
            <a:picLocks noChangeAspect="1"/>
          </p:cNvPicPr>
          <p:nvPr/>
        </p:nvPicPr>
        <p:blipFill>
          <a:blip r:embed="rId2"/>
          <a:stretch>
            <a:fillRect/>
          </a:stretch>
        </p:blipFill>
        <p:spPr>
          <a:xfrm>
            <a:off x="838200" y="0"/>
            <a:ext cx="10382250" cy="6715125"/>
          </a:xfrm>
          <a:prstGeom prst="rect">
            <a:avLst/>
          </a:prstGeom>
        </p:spPr>
      </p:pic>
    </p:spTree>
    <p:extLst>
      <p:ext uri="{BB962C8B-B14F-4D97-AF65-F5344CB8AC3E}">
        <p14:creationId xmlns:p14="http://schemas.microsoft.com/office/powerpoint/2010/main" val="3642051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455847-A60E-76BD-1DCC-F47C1E06FA0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D4AE72EB-4366-37AA-450A-33737829B2C2}"/>
              </a:ext>
            </a:extLst>
          </p:cNvPr>
          <p:cNvSpPr>
            <a:spLocks noGrp="1"/>
          </p:cNvSpPr>
          <p:nvPr>
            <p:ph idx="1"/>
          </p:nvPr>
        </p:nvSpPr>
        <p:spPr/>
        <p:txBody>
          <a:bodyPr/>
          <a:lstStyle/>
          <a:p>
            <a:endParaRPr lang="zh-CN" altLang="en-US"/>
          </a:p>
        </p:txBody>
      </p:sp>
      <p:pic>
        <p:nvPicPr>
          <p:cNvPr id="7" name="图片 6">
            <a:extLst>
              <a:ext uri="{FF2B5EF4-FFF2-40B4-BE49-F238E27FC236}">
                <a16:creationId xmlns:a16="http://schemas.microsoft.com/office/drawing/2014/main" id="{3001EAE1-051F-6DDB-06BB-EAD69A1DA1BB}"/>
              </a:ext>
            </a:extLst>
          </p:cNvPr>
          <p:cNvPicPr>
            <a:picLocks noChangeAspect="1"/>
          </p:cNvPicPr>
          <p:nvPr/>
        </p:nvPicPr>
        <p:blipFill>
          <a:blip r:embed="rId2"/>
          <a:stretch>
            <a:fillRect/>
          </a:stretch>
        </p:blipFill>
        <p:spPr>
          <a:xfrm>
            <a:off x="39259" y="547379"/>
            <a:ext cx="12113481" cy="5763242"/>
          </a:xfrm>
          <a:prstGeom prst="rect">
            <a:avLst/>
          </a:prstGeom>
        </p:spPr>
      </p:pic>
    </p:spTree>
    <p:extLst>
      <p:ext uri="{BB962C8B-B14F-4D97-AF65-F5344CB8AC3E}">
        <p14:creationId xmlns:p14="http://schemas.microsoft.com/office/powerpoint/2010/main" val="186545477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282</TotalTime>
  <Words>286</Words>
  <Application>Microsoft Office PowerPoint</Application>
  <PresentationFormat>宽屏</PresentationFormat>
  <Paragraphs>69</Paragraphs>
  <Slides>14</Slides>
  <Notes>3</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14</vt:i4>
      </vt:variant>
    </vt:vector>
  </HeadingPairs>
  <TitlesOfParts>
    <vt:vector size="19" baseType="lpstr">
      <vt:lpstr>等线</vt:lpstr>
      <vt:lpstr>等线 Light</vt:lpstr>
      <vt:lpstr>华文中宋</vt:lpstr>
      <vt:lpstr>Arial</vt:lpstr>
      <vt:lpstr>Office 主题​​</vt:lpstr>
      <vt:lpstr>显著性目标检测</vt:lpstr>
      <vt:lpstr>什么是显著性目标检测？</vt:lpstr>
      <vt:lpstr>数据集与实验设置</vt:lpstr>
      <vt:lpstr>Baseline 1：PoolNet</vt:lpstr>
      <vt:lpstr>Baseline 2：F3Net</vt:lpstr>
      <vt:lpstr>Baseline 3：CPDResNet</vt:lpstr>
      <vt:lpstr>Baseline 4：GateNet（FoldConvASPP）</vt:lpstr>
      <vt:lpstr>Baseline 4：GateNet</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8618053183314</dc:creator>
  <cp:lastModifiedBy>8618053183314</cp:lastModifiedBy>
  <cp:revision>3</cp:revision>
  <dcterms:created xsi:type="dcterms:W3CDTF">2026-06-14T04:59:30Z</dcterms:created>
  <dcterms:modified xsi:type="dcterms:W3CDTF">2026-06-14T09:41:53Z</dcterms:modified>
</cp:coreProperties>
</file>